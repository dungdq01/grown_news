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Lst>
  <p:notesMasterIdLst>
    <p:notesMasterId r:id="rId5"/>
  </p:notesMasterIdLst>
  <p:sldIdLst>
    <p:sldId id="256" r:id="rId4"/>
    <p:sldId id="257" r:id="rId6"/>
    <p:sldId id="258" r:id="rId7"/>
    <p:sldId id="259" r:id="rId8"/>
    <p:sldId id="261" r:id="rId9"/>
    <p:sldId id="262" r:id="rId10"/>
    <p:sldId id="273" r:id="rId11"/>
    <p:sldId id="277" r:id="rId12"/>
    <p:sldId id="275" r:id="rId13"/>
    <p:sldId id="263" r:id="rId14"/>
    <p:sldId id="264" r:id="rId15"/>
    <p:sldId id="265" r:id="rId16"/>
    <p:sldId id="266" r:id="rId17"/>
    <p:sldId id="267" r:id="rId18"/>
    <p:sldId id="272"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7C946C5E-BC41-2CD8-0C50-2F77DE8F755B}" name="Admin" initials="A" userId="Admin"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F4FB"/>
    <a:srgbClr val="FFFFFF"/>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451"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3" Type="http://schemas.microsoft.com/office/2018/10/relationships/authors" Target="authors.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nhánh rẽ ra từ hai luồng chính, không cần thêm hệ thống nào. Thu hồi và ký gửi rẽ từ luồng bán, chuyển kho và kiểm kê là nội bộ kho. Tất cả đều chốt bằng tín hiệu sang Bravo.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Mốc quan trọng nhất: 27/09 bàn giao bản dùng thử, 25/10 vận hành chính thức — đúng mục tiêu tháng 10 của Unis.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C0 và C1. Nhấn: nối Bravo làm sớm nhất vì đây là phần dễ phát sinh bất ngờ.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C2 và C3. Ba nhóm làm song song để giữ lịch 7 tuần; bàn giao đúng hạn quan trọng hơn đủ hết tính năng.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C4 là chặng quan trọng nhất — có mặt tại hiện trường, xử lý góp ý trong 48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theo dòng người dùng: khách đặt → sales duyệt → kho soạn → điều vận gán xe → tài xế giao.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lại lời kêu gọi: đặt buổi làm việc trong tuần, trước 07/08.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02336"/>
            <a:ext cx="137160" cy="137160"/>
          </a:xfrm>
          <a:prstGeom prst="roundRect">
            <a:avLst>
              <a:gd name="adj" fmla="val 23333"/>
            </a:avLst>
          </a:prstGeom>
          <a:solidFill>
            <a:srgbClr val="EAB308"/>
          </a:solidFill>
          <a:ln w="12700">
            <a:solidFill>
              <a:srgbClr val="EAB308"/>
            </a:solidFill>
            <a:prstDash val="solid"/>
          </a:ln>
        </p:spPr>
        <p:txBody>
          <a:bodyPr/>
          <a:lstStyle/>
          <a:p>
            <a:endParaRPr lang="en-US" sz="2400"/>
          </a:p>
        </p:txBody>
      </p:sp>
      <p:sp>
        <p:nvSpPr>
          <p:cNvPr id="3" name="Text 1"/>
          <p:cNvSpPr/>
          <p:nvPr/>
        </p:nvSpPr>
        <p:spPr>
          <a:xfrm>
            <a:off x="786384" y="329184"/>
            <a:ext cx="10820095" cy="274320"/>
          </a:xfrm>
          <a:prstGeom prst="rect">
            <a:avLst/>
          </a:prstGeom>
          <a:noFill/>
        </p:spPr>
        <p:txBody>
          <a:bodyPr wrap="square" lIns="0" tIns="0" rIns="0" bIns="0" rtlCol="0" anchor="ctr"/>
          <a:lstStyle/>
          <a:p>
            <a:pPr marL="0" indent="0">
              <a:buNone/>
            </a:pPr>
            <a:r>
              <a:rPr lang="en-US" sz="1400" b="1" kern="0" spc="160" dirty="0">
                <a:solidFill>
                  <a:srgbClr val="A16207"/>
                </a:solidFill>
                <a:latin typeface="Calibri" panose="020F0502020204030204" pitchFamily="34" charset="0"/>
                <a:ea typeface="Calibri" panose="020F0502020204030204" pitchFamily="34" charset="-122"/>
                <a:cs typeface="Calibri" panose="020F0502020204030204" pitchFamily="34" charset="-120"/>
              </a:rPr>
              <a:t>04 · TIMELINE</a:t>
            </a:r>
            <a:endParaRPr lang="en-US" sz="1400" b="1" kern="0" spc="160" dirty="0">
              <a:solidFill>
                <a:srgbClr val="A16207"/>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48640" y="640080"/>
            <a:ext cx="8686800" cy="566928"/>
          </a:xfrm>
          <a:prstGeom prst="rect">
            <a:avLst/>
          </a:prstGeom>
          <a:noFill/>
        </p:spPr>
        <p:txBody>
          <a:bodyPr wrap="square" lIns="0" tIns="0" rIns="0" bIns="0" rtlCol="0" anchor="t"/>
          <a:lstStyle/>
          <a:p>
            <a:pPr marL="0" indent="0">
              <a:buNone/>
            </a:pPr>
            <a:r>
              <a:rPr lang="en-US" sz="2500" b="1" dirty="0">
                <a:solidFill>
                  <a:srgbClr val="0F2A5C"/>
                </a:solidFill>
                <a:latin typeface="Calibri" panose="020F0502020204030204" pitchFamily="34" charset="0"/>
                <a:ea typeface="Calibri" panose="020F0502020204030204" pitchFamily="34" charset="-122"/>
                <a:cs typeface="Calibri" panose="020F0502020204030204" pitchFamily="34" charset="-120"/>
              </a:rPr>
              <a:t>Lộ trình dự kiến — từ chốt phạm vi đến vận hành</a:t>
            </a:r>
            <a:endParaRPr lang="en-US" sz="2500" b="1" dirty="0">
              <a:solidFill>
                <a:srgbClr val="0F2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5" name="Text 3"/>
          <p:cNvSpPr/>
          <p:nvPr/>
        </p:nvSpPr>
        <p:spPr>
          <a:xfrm>
            <a:off x="548640" y="1217295"/>
            <a:ext cx="11057890" cy="365760"/>
          </a:xfrm>
          <a:prstGeom prst="rect">
            <a:avLst/>
          </a:prstGeom>
          <a:noFill/>
        </p:spPr>
        <p:txBody>
          <a:bodyPr wrap="square" lIns="0" tIns="0" rIns="0" bIns="0" rtlCol="0" anchor="t"/>
          <a:lstStyle/>
          <a:p>
            <a:pPr marL="0" indent="0">
              <a:lnSpc>
                <a:spcPct val="115000"/>
              </a:lnSpc>
              <a:buNone/>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Ngày tháng dưới đây là phương án đề xuất. Trong buổi làm việc, hai bên có thể chỉnh ngày khởi động hoặc kéo dài / rút ngắn từng chặng.</a:t>
            </a:r>
            <a:endPar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8397875" y="713105"/>
            <a:ext cx="3245485" cy="384175"/>
          </a:xfrm>
          <a:prstGeom prst="roundRect">
            <a:avLst>
              <a:gd name="adj" fmla="val 47619"/>
            </a:avLst>
          </a:prstGeom>
          <a:solidFill>
            <a:srgbClr val="FDF6DF"/>
          </a:solidFill>
          <a:ln w="15875">
            <a:solidFill>
              <a:srgbClr val="EAB308"/>
            </a:solidFill>
            <a:prstDash val="solid"/>
          </a:ln>
        </p:spPr>
        <p:txBody>
          <a:bodyPr/>
          <a:lstStyle/>
          <a:p>
            <a:endParaRPr lang="en-US" sz="2400"/>
          </a:p>
        </p:txBody>
      </p:sp>
      <p:sp>
        <p:nvSpPr>
          <p:cNvPr id="7" name="Text 5"/>
          <p:cNvSpPr/>
          <p:nvPr/>
        </p:nvSpPr>
        <p:spPr>
          <a:xfrm>
            <a:off x="8416290" y="713105"/>
            <a:ext cx="3227070" cy="384175"/>
          </a:xfrm>
          <a:prstGeom prst="rect">
            <a:avLst/>
          </a:prstGeom>
          <a:noFill/>
        </p:spPr>
        <p:txBody>
          <a:bodyPr wrap="square" lIns="0" tIns="0" rIns="0" bIns="0" rtlCol="0" anchor="ctr"/>
          <a:lstStyle/>
          <a:p>
            <a:pPr marL="0" indent="0" algn="ctr">
              <a:buNone/>
            </a:pPr>
            <a:r>
              <a:rPr lang="en-US" sz="1400" b="1" dirty="0">
                <a:solidFill>
                  <a:srgbClr val="A16207"/>
                </a:solidFill>
                <a:latin typeface="Calibri" panose="020F0502020204030204" pitchFamily="34" charset="0"/>
                <a:ea typeface="Calibri" panose="020F0502020204030204" pitchFamily="34" charset="-122"/>
                <a:cs typeface="Calibri" panose="020F0502020204030204" pitchFamily="34" charset="-120"/>
              </a:rPr>
              <a:t>Chốt phạm vi &amp; hợp đồng: trước 15/08</a:t>
            </a:r>
            <a:endParaRPr lang="en-US" sz="1400" b="1" dirty="0">
              <a:solidFill>
                <a:srgbClr val="A16207"/>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nvSpPr>
        <p:spPr>
          <a:xfrm>
            <a:off x="548640" y="1700784"/>
            <a:ext cx="11094415" cy="3931920"/>
          </a:xfrm>
          <a:prstGeom prst="roundRect">
            <a:avLst>
              <a:gd name="adj" fmla="val 2093"/>
            </a:avLst>
          </a:prstGeom>
          <a:solidFill>
            <a:srgbClr val="F7F9FD"/>
          </a:solidFill>
          <a:ln w="12700">
            <a:solidFill>
              <a:srgbClr val="DDE5F0"/>
            </a:solidFill>
            <a:prstDash val="solid"/>
          </a:ln>
          <a:effectLst>
            <a:outerShdw blurRad="114300" dist="17780" dir="5400000" algn="bl" rotWithShape="0">
              <a:srgbClr val="0F2A5C">
                <a:alpha val="9000"/>
              </a:srgbClr>
            </a:outerShdw>
          </a:effectLst>
        </p:spPr>
        <p:txBody>
          <a:bodyPr/>
          <a:lstStyle/>
          <a:p>
            <a:endParaRPr lang="en-US" sz="2400"/>
          </a:p>
        </p:txBody>
      </p:sp>
      <p:sp>
        <p:nvSpPr>
          <p:cNvPr id="9" name="Shape 7"/>
          <p:cNvSpPr/>
          <p:nvPr/>
        </p:nvSpPr>
        <p:spPr>
          <a:xfrm>
            <a:off x="822960" y="1920240"/>
            <a:ext cx="146304" cy="146304"/>
          </a:xfrm>
          <a:prstGeom prst="roundRect">
            <a:avLst>
              <a:gd name="adj" fmla="val 25000"/>
            </a:avLst>
          </a:prstGeom>
          <a:solidFill>
            <a:srgbClr val="B45309"/>
          </a:solidFill>
          <a:ln w="12700">
            <a:solidFill>
              <a:srgbClr val="333333"/>
            </a:solidFill>
            <a:prstDash val="solid"/>
          </a:ln>
        </p:spPr>
        <p:txBody>
          <a:bodyPr/>
          <a:lstStyle/>
          <a:p>
            <a:endParaRPr lang="en-US" sz="2400"/>
          </a:p>
        </p:txBody>
      </p:sp>
      <p:sp>
        <p:nvSpPr>
          <p:cNvPr id="10" name="Text 8"/>
          <p:cNvSpPr/>
          <p:nvPr/>
        </p:nvSpPr>
        <p:spPr>
          <a:xfrm>
            <a:off x="1042416" y="1847088"/>
            <a:ext cx="2286000" cy="292608"/>
          </a:xfrm>
          <a:prstGeom prst="rect">
            <a:avLst/>
          </a:prstGeom>
          <a:noFill/>
        </p:spPr>
        <p:txBody>
          <a:bodyPr wrap="square" lIns="0" tIns="0" rIns="0" bIns="0" rtlCol="0" anchor="ctr"/>
          <a:lstStyle/>
          <a:p>
            <a:pPr marL="0" indent="0">
              <a:buNone/>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Chuẩn bị &amp; chốt phạm vi</a:t>
            </a:r>
            <a:endPar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Shape 9"/>
          <p:cNvSpPr/>
          <p:nvPr/>
        </p:nvSpPr>
        <p:spPr>
          <a:xfrm>
            <a:off x="3337560" y="1920240"/>
            <a:ext cx="146304" cy="146304"/>
          </a:xfrm>
          <a:prstGeom prst="roundRect">
            <a:avLst>
              <a:gd name="adj" fmla="val 25000"/>
            </a:avLst>
          </a:prstGeom>
          <a:solidFill>
            <a:srgbClr val="2563EB"/>
          </a:solidFill>
          <a:ln w="12700">
            <a:solidFill>
              <a:srgbClr val="333333"/>
            </a:solidFill>
            <a:prstDash val="solid"/>
          </a:ln>
        </p:spPr>
        <p:txBody>
          <a:bodyPr/>
          <a:lstStyle/>
          <a:p>
            <a:endParaRPr lang="en-US" sz="2400"/>
          </a:p>
        </p:txBody>
      </p:sp>
      <p:sp>
        <p:nvSpPr>
          <p:cNvPr id="12" name="Text 10"/>
          <p:cNvSpPr/>
          <p:nvPr/>
        </p:nvSpPr>
        <p:spPr>
          <a:xfrm>
            <a:off x="3557016" y="1847088"/>
            <a:ext cx="2286000" cy="292608"/>
          </a:xfrm>
          <a:prstGeom prst="rect">
            <a:avLst/>
          </a:prstGeom>
          <a:noFill/>
        </p:spPr>
        <p:txBody>
          <a:bodyPr wrap="square" lIns="0" tIns="0" rIns="0" bIns="0" rtlCol="0" anchor="ctr"/>
          <a:lstStyle/>
          <a:p>
            <a:pPr marL="0" indent="0">
              <a:buNone/>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Dựng bản dùng thử</a:t>
            </a:r>
            <a:endPar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Shape 11"/>
          <p:cNvSpPr/>
          <p:nvPr/>
        </p:nvSpPr>
        <p:spPr>
          <a:xfrm>
            <a:off x="5852160" y="1920240"/>
            <a:ext cx="146304" cy="146304"/>
          </a:xfrm>
          <a:prstGeom prst="roundRect">
            <a:avLst>
              <a:gd name="adj" fmla="val 25000"/>
            </a:avLst>
          </a:prstGeom>
          <a:solidFill>
            <a:srgbClr val="059669"/>
          </a:solidFill>
          <a:ln w="12700">
            <a:solidFill>
              <a:srgbClr val="333333"/>
            </a:solidFill>
            <a:prstDash val="solid"/>
          </a:ln>
        </p:spPr>
        <p:txBody>
          <a:bodyPr/>
          <a:lstStyle/>
          <a:p>
            <a:endParaRPr lang="en-US" sz="2400"/>
          </a:p>
        </p:txBody>
      </p:sp>
      <p:sp>
        <p:nvSpPr>
          <p:cNvPr id="14" name="Text 12"/>
          <p:cNvSpPr/>
          <p:nvPr/>
        </p:nvSpPr>
        <p:spPr>
          <a:xfrm>
            <a:off x="6071616" y="1847088"/>
            <a:ext cx="2286000" cy="292608"/>
          </a:xfrm>
          <a:prstGeom prst="rect">
            <a:avLst/>
          </a:prstGeom>
          <a:noFill/>
        </p:spPr>
        <p:txBody>
          <a:bodyPr wrap="square" lIns="0" tIns="0" rIns="0" bIns="0" rtlCol="0" anchor="ctr"/>
          <a:lstStyle/>
          <a:p>
            <a:pPr marL="0" indent="0">
              <a:buNone/>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Đồng hành &amp; vận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hành</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thực</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tế</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endPar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Shape 13"/>
          <p:cNvSpPr/>
          <p:nvPr/>
        </p:nvSpPr>
        <p:spPr>
          <a:xfrm>
            <a:off x="9043035" y="1993392"/>
            <a:ext cx="219456" cy="0"/>
          </a:xfrm>
          <a:prstGeom prst="line">
            <a:avLst/>
          </a:prstGeom>
          <a:noFill/>
          <a:ln w="22225">
            <a:solidFill>
              <a:srgbClr val="A16207"/>
            </a:solidFill>
            <a:prstDash val="dash"/>
          </a:ln>
        </p:spPr>
        <p:txBody>
          <a:bodyPr/>
          <a:lstStyle/>
          <a:p>
            <a:endParaRPr lang="en-US"/>
          </a:p>
        </p:txBody>
      </p:sp>
      <p:sp>
        <p:nvSpPr>
          <p:cNvPr id="16" name="Text 14"/>
          <p:cNvSpPr/>
          <p:nvPr/>
        </p:nvSpPr>
        <p:spPr>
          <a:xfrm>
            <a:off x="9335643" y="1847088"/>
            <a:ext cx="2011680" cy="292608"/>
          </a:xfrm>
          <a:prstGeom prst="rect">
            <a:avLst/>
          </a:prstGeom>
          <a:noFill/>
        </p:spPr>
        <p:txBody>
          <a:bodyPr wrap="square" lIns="0" tIns="0" rIns="0" bIns="0" rtlCol="0" anchor="ctr"/>
          <a:lstStyle/>
          <a:p>
            <a:pPr marL="0" indent="0">
              <a:buNone/>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Mục tiêu tháng 10</a:t>
            </a:r>
            <a:endPar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Shape 15"/>
          <p:cNvSpPr/>
          <p:nvPr/>
        </p:nvSpPr>
        <p:spPr>
          <a:xfrm>
            <a:off x="3366298" y="2359152"/>
            <a:ext cx="0" cy="3255264"/>
          </a:xfrm>
          <a:prstGeom prst="line">
            <a:avLst/>
          </a:prstGeom>
          <a:noFill/>
          <a:ln w="12700">
            <a:solidFill>
              <a:srgbClr val="DDE5F0"/>
            </a:solidFill>
            <a:prstDash val="solid"/>
          </a:ln>
        </p:spPr>
        <p:txBody>
          <a:bodyPr/>
          <a:lstStyle/>
          <a:p>
            <a:endParaRPr lang="en-US"/>
          </a:p>
        </p:txBody>
      </p:sp>
      <p:sp>
        <p:nvSpPr>
          <p:cNvPr id="18" name="Text 16"/>
          <p:cNvSpPr/>
          <p:nvPr/>
        </p:nvSpPr>
        <p:spPr>
          <a:xfrm>
            <a:off x="3402874" y="2176272"/>
            <a:ext cx="640080" cy="219456"/>
          </a:xfrm>
          <a:prstGeom prst="rect">
            <a:avLst/>
          </a:prstGeom>
          <a:noFill/>
        </p:spPr>
        <p:txBody>
          <a:bodyPr wrap="square" lIns="0" tIns="0" rIns="0" bIns="0" rtlCol="0" anchor="ctr"/>
          <a:lstStyle/>
          <a:p>
            <a:pPr marL="0" indent="0">
              <a:buNone/>
            </a:pPr>
            <a:r>
              <a:rPr lang="en-US" sz="1200" dirty="0">
                <a:solidFill>
                  <a:srgbClr val="8B99B5"/>
                </a:solidFill>
                <a:latin typeface="Calibri" panose="020F0502020204030204" pitchFamily="34" charset="0"/>
                <a:ea typeface="Calibri" panose="020F0502020204030204" pitchFamily="34" charset="-122"/>
                <a:cs typeface="Calibri" panose="020F0502020204030204" pitchFamily="34" charset="-120"/>
              </a:rPr>
              <a:t>Th8</a:t>
            </a:r>
            <a:endParaRPr lang="en-US" sz="120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Shape 17"/>
          <p:cNvSpPr/>
          <p:nvPr/>
        </p:nvSpPr>
        <p:spPr>
          <a:xfrm>
            <a:off x="5876979" y="2359152"/>
            <a:ext cx="0" cy="3255264"/>
          </a:xfrm>
          <a:prstGeom prst="line">
            <a:avLst/>
          </a:prstGeom>
          <a:noFill/>
          <a:ln w="12700">
            <a:solidFill>
              <a:srgbClr val="DDE5F0"/>
            </a:solidFill>
            <a:prstDash val="solid"/>
          </a:ln>
        </p:spPr>
        <p:txBody>
          <a:bodyPr/>
          <a:lstStyle/>
          <a:p>
            <a:endParaRPr lang="en-US"/>
          </a:p>
        </p:txBody>
      </p:sp>
      <p:sp>
        <p:nvSpPr>
          <p:cNvPr id="20" name="Text 18"/>
          <p:cNvSpPr/>
          <p:nvPr/>
        </p:nvSpPr>
        <p:spPr>
          <a:xfrm>
            <a:off x="5913555" y="2176272"/>
            <a:ext cx="640080" cy="219456"/>
          </a:xfrm>
          <a:prstGeom prst="rect">
            <a:avLst/>
          </a:prstGeom>
          <a:noFill/>
        </p:spPr>
        <p:txBody>
          <a:bodyPr wrap="square" lIns="0" tIns="0" rIns="0" bIns="0" rtlCol="0" anchor="ctr"/>
          <a:lstStyle/>
          <a:p>
            <a:pPr marL="0" indent="0">
              <a:buNone/>
            </a:pPr>
            <a:r>
              <a:rPr lang="en-US" sz="1200" dirty="0">
                <a:solidFill>
                  <a:srgbClr val="8B99B5"/>
                </a:solidFill>
                <a:latin typeface="Calibri" panose="020F0502020204030204" pitchFamily="34" charset="0"/>
                <a:ea typeface="Calibri" panose="020F0502020204030204" pitchFamily="34" charset="-122"/>
                <a:cs typeface="Calibri" panose="020F0502020204030204" pitchFamily="34" charset="-120"/>
              </a:rPr>
              <a:t>Th9</a:t>
            </a:r>
            <a:endParaRPr lang="en-US" sz="120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Shape 19"/>
          <p:cNvSpPr/>
          <p:nvPr/>
        </p:nvSpPr>
        <p:spPr>
          <a:xfrm>
            <a:off x="8306671" y="2359152"/>
            <a:ext cx="0" cy="3255264"/>
          </a:xfrm>
          <a:prstGeom prst="line">
            <a:avLst/>
          </a:prstGeom>
          <a:noFill/>
          <a:ln w="12700">
            <a:solidFill>
              <a:srgbClr val="DDE5F0"/>
            </a:solidFill>
            <a:prstDash val="solid"/>
          </a:ln>
        </p:spPr>
        <p:txBody>
          <a:bodyPr/>
          <a:lstStyle/>
          <a:p>
            <a:endParaRPr lang="en-US"/>
          </a:p>
        </p:txBody>
      </p:sp>
      <p:sp>
        <p:nvSpPr>
          <p:cNvPr id="22" name="Text 20"/>
          <p:cNvSpPr/>
          <p:nvPr/>
        </p:nvSpPr>
        <p:spPr>
          <a:xfrm>
            <a:off x="8343247" y="2176272"/>
            <a:ext cx="640080" cy="219456"/>
          </a:xfrm>
          <a:prstGeom prst="rect">
            <a:avLst/>
          </a:prstGeom>
          <a:noFill/>
        </p:spPr>
        <p:txBody>
          <a:bodyPr wrap="square" lIns="0" tIns="0" rIns="0" bIns="0" rtlCol="0" anchor="ctr"/>
          <a:lstStyle/>
          <a:p>
            <a:pPr marL="0" indent="0">
              <a:buNone/>
            </a:pPr>
            <a:r>
              <a:rPr lang="en-US" sz="1200" dirty="0">
                <a:solidFill>
                  <a:srgbClr val="8B99B5"/>
                </a:solidFill>
                <a:latin typeface="Calibri" panose="020F0502020204030204" pitchFamily="34" charset="0"/>
                <a:ea typeface="Calibri" panose="020F0502020204030204" pitchFamily="34" charset="-122"/>
                <a:cs typeface="Calibri" panose="020F0502020204030204" pitchFamily="34" charset="-120"/>
              </a:rPr>
              <a:t>Th10</a:t>
            </a:r>
            <a:endParaRPr lang="en-US" sz="120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Shape 21"/>
          <p:cNvSpPr/>
          <p:nvPr/>
        </p:nvSpPr>
        <p:spPr>
          <a:xfrm>
            <a:off x="10817352" y="2359152"/>
            <a:ext cx="0" cy="3255264"/>
          </a:xfrm>
          <a:prstGeom prst="line">
            <a:avLst/>
          </a:prstGeom>
          <a:noFill/>
          <a:ln w="12700">
            <a:solidFill>
              <a:srgbClr val="DDE5F0"/>
            </a:solidFill>
            <a:prstDash val="solid"/>
          </a:ln>
        </p:spPr>
        <p:txBody>
          <a:bodyPr/>
          <a:lstStyle/>
          <a:p>
            <a:endParaRPr lang="en-US"/>
          </a:p>
        </p:txBody>
      </p:sp>
      <p:sp>
        <p:nvSpPr>
          <p:cNvPr id="24" name="Text 22"/>
          <p:cNvSpPr/>
          <p:nvPr/>
        </p:nvSpPr>
        <p:spPr>
          <a:xfrm>
            <a:off x="10853928" y="2176272"/>
            <a:ext cx="640080" cy="219456"/>
          </a:xfrm>
          <a:prstGeom prst="rect">
            <a:avLst/>
          </a:prstGeom>
          <a:noFill/>
        </p:spPr>
        <p:txBody>
          <a:bodyPr wrap="square" lIns="0" tIns="0" rIns="0" bIns="0" rtlCol="0" anchor="ctr"/>
          <a:lstStyle/>
          <a:p>
            <a:pPr marL="0" indent="0">
              <a:buNone/>
            </a:pPr>
            <a:r>
              <a:rPr lang="en-US" sz="1200" dirty="0">
                <a:solidFill>
                  <a:srgbClr val="8B99B5"/>
                </a:solidFill>
                <a:latin typeface="Calibri" panose="020F0502020204030204" pitchFamily="34" charset="0"/>
                <a:ea typeface="Calibri" panose="020F0502020204030204" pitchFamily="34" charset="-122"/>
                <a:cs typeface="Calibri" panose="020F0502020204030204" pitchFamily="34" charset="-120"/>
              </a:rPr>
              <a:t>Th11</a:t>
            </a:r>
            <a:endParaRPr lang="en-US" sz="120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25" name="Shape 23"/>
          <p:cNvSpPr/>
          <p:nvPr/>
        </p:nvSpPr>
        <p:spPr>
          <a:xfrm>
            <a:off x="10250424" y="2359152"/>
            <a:ext cx="0" cy="3255264"/>
          </a:xfrm>
          <a:prstGeom prst="line">
            <a:avLst/>
          </a:prstGeom>
          <a:noFill/>
          <a:ln w="22225">
            <a:solidFill>
              <a:srgbClr val="A16207"/>
            </a:solidFill>
            <a:prstDash val="dash"/>
          </a:ln>
        </p:spPr>
        <p:txBody>
          <a:bodyPr/>
          <a:lstStyle/>
          <a:p>
            <a:endParaRPr lang="en-US"/>
          </a:p>
        </p:txBody>
      </p:sp>
      <p:sp>
        <p:nvSpPr>
          <p:cNvPr id="26" name="Text 24"/>
          <p:cNvSpPr/>
          <p:nvPr/>
        </p:nvSpPr>
        <p:spPr>
          <a:xfrm>
            <a:off x="9043416" y="2176272"/>
            <a:ext cx="1143000" cy="219456"/>
          </a:xfrm>
          <a:prstGeom prst="rect">
            <a:avLst/>
          </a:prstGeom>
          <a:noFill/>
        </p:spPr>
        <p:txBody>
          <a:bodyPr wrap="square" lIns="0" tIns="0" rIns="0" bIns="0" rtlCol="0" anchor="ctr"/>
          <a:lstStyle/>
          <a:p>
            <a:pPr marL="0" indent="0" algn="r">
              <a:buNone/>
            </a:pPr>
            <a:r>
              <a:rPr lang="en-US" sz="1200" b="1" dirty="0">
                <a:solidFill>
                  <a:srgbClr val="A16207"/>
                </a:solidFill>
                <a:latin typeface="Calibri" panose="020F0502020204030204" pitchFamily="34" charset="0"/>
                <a:ea typeface="Calibri" panose="020F0502020204030204" pitchFamily="34" charset="-122"/>
                <a:cs typeface="Calibri" panose="020F0502020204030204" pitchFamily="34" charset="-120"/>
              </a:rPr>
              <a:t>mục tiêu T10</a:t>
            </a:r>
            <a:endParaRPr lang="en-US" sz="1200" b="1" dirty="0">
              <a:solidFill>
                <a:srgbClr val="A16207"/>
              </a:solidFill>
              <a:latin typeface="Calibri" panose="020F0502020204030204" pitchFamily="34" charset="0"/>
              <a:ea typeface="Calibri" panose="020F0502020204030204" pitchFamily="34" charset="-122"/>
              <a:cs typeface="Calibri" panose="020F0502020204030204" pitchFamily="34" charset="-120"/>
            </a:endParaRPr>
          </a:p>
        </p:txBody>
      </p:sp>
      <p:sp>
        <p:nvSpPr>
          <p:cNvPr id="27" name="Text 25"/>
          <p:cNvSpPr/>
          <p:nvPr/>
        </p:nvSpPr>
        <p:spPr>
          <a:xfrm>
            <a:off x="822960" y="2596896"/>
            <a:ext cx="2103120" cy="219456"/>
          </a:xfrm>
          <a:prstGeom prst="rect">
            <a:avLst/>
          </a:prstGeom>
          <a:noFill/>
        </p:spPr>
        <p:txBody>
          <a:bodyPr wrap="square" lIns="0" tIns="0" rIns="0" bIns="0" rtlCol="0" anchor="ctr"/>
          <a:lstStyle/>
          <a:p>
            <a:pPr marL="0" indent="0">
              <a:buNone/>
            </a:pPr>
            <a:r>
              <a:rPr lang="en-US" sz="1400" b="1" dirty="0">
                <a:solidFill>
                  <a:srgbClr val="0F2A5C"/>
                </a:solidFill>
                <a:latin typeface="Calibri" panose="020F0502020204030204" pitchFamily="34" charset="0"/>
                <a:ea typeface="Calibri" panose="020F0502020204030204" pitchFamily="34" charset="-122"/>
                <a:cs typeface="Calibri" panose="020F0502020204030204" pitchFamily="34" charset="-120"/>
              </a:rPr>
              <a:t>Chốt phạm vi</a:t>
            </a:r>
            <a:endParaRPr lang="en-US" sz="1400" b="1" dirty="0">
              <a:solidFill>
                <a:srgbClr val="0F2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28" name="Text 26"/>
          <p:cNvSpPr/>
          <p:nvPr/>
        </p:nvSpPr>
        <p:spPr>
          <a:xfrm>
            <a:off x="822960" y="2798064"/>
            <a:ext cx="2103120" cy="201168"/>
          </a:xfrm>
          <a:prstGeom prst="rect">
            <a:avLst/>
          </a:prstGeom>
          <a:noFill/>
        </p:spPr>
        <p:txBody>
          <a:bodyPr wrap="square" lIns="0" tIns="0" rIns="0" bIns="0" rtlCol="0" anchor="ctr"/>
          <a:lstStyle/>
          <a:p>
            <a:pPr marL="0" indent="0">
              <a:buNone/>
            </a:pPr>
            <a:r>
              <a:rPr lang="en-US" sz="1200" dirty="0">
                <a:solidFill>
                  <a:srgbClr val="8B99B5"/>
                </a:solidFill>
                <a:latin typeface="Calibri" panose="020F0502020204030204" pitchFamily="34" charset="0"/>
                <a:ea typeface="Calibri" panose="020F0502020204030204" pitchFamily="34" charset="-122"/>
                <a:cs typeface="Calibri" panose="020F0502020204030204" pitchFamily="34" charset="-120"/>
              </a:rPr>
              <a:t>01/08 → 15/08</a:t>
            </a:r>
            <a:endParaRPr lang="en-US" sz="120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29" name="Shape 27"/>
          <p:cNvSpPr/>
          <p:nvPr/>
        </p:nvSpPr>
        <p:spPr>
          <a:xfrm>
            <a:off x="2880360" y="2651760"/>
            <a:ext cx="1133856" cy="274320"/>
          </a:xfrm>
          <a:prstGeom prst="roundRect">
            <a:avLst>
              <a:gd name="adj" fmla="val 20000"/>
            </a:avLst>
          </a:prstGeom>
          <a:solidFill>
            <a:srgbClr val="B45309"/>
          </a:solidFill>
          <a:ln w="19050">
            <a:solidFill>
              <a:srgbClr val="FFFFFF"/>
            </a:solidFill>
            <a:prstDash val="solid"/>
          </a:ln>
        </p:spPr>
        <p:txBody>
          <a:bodyPr/>
          <a:lstStyle/>
          <a:p>
            <a:endParaRPr lang="en-US" sz="2400"/>
          </a:p>
        </p:txBody>
      </p:sp>
      <p:sp>
        <p:nvSpPr>
          <p:cNvPr id="30" name="Text 28"/>
          <p:cNvSpPr/>
          <p:nvPr/>
        </p:nvSpPr>
        <p:spPr>
          <a:xfrm>
            <a:off x="2880360" y="2651760"/>
            <a:ext cx="1042416" cy="274320"/>
          </a:xfrm>
          <a:prstGeom prst="rect">
            <a:avLst/>
          </a:prstGeom>
          <a:noFill/>
        </p:spPr>
        <p:txBody>
          <a:bodyPr wrap="square" lIns="0" tIns="0" rIns="0" bIns="0" rtlCol="0" anchor="ctr"/>
          <a:lstStyle/>
          <a:p>
            <a:pPr marL="0" indent="0" algn="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2t</a:t>
            </a:r>
            <a:endPar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31" name="Text 29"/>
          <p:cNvSpPr/>
          <p:nvPr/>
        </p:nvSpPr>
        <p:spPr>
          <a:xfrm>
            <a:off x="822960" y="3099816"/>
            <a:ext cx="2103120" cy="219456"/>
          </a:xfrm>
          <a:prstGeom prst="rect">
            <a:avLst/>
          </a:prstGeom>
          <a:noFill/>
        </p:spPr>
        <p:txBody>
          <a:bodyPr wrap="square" lIns="0" tIns="0" rIns="0" bIns="0" rtlCol="0" anchor="ctr"/>
          <a:lstStyle/>
          <a:p>
            <a:pPr marL="0" indent="0">
              <a:buNone/>
            </a:pPr>
            <a:r>
              <a:rPr lang="en-US" sz="1400" b="1" dirty="0">
                <a:solidFill>
                  <a:srgbClr val="0F2A5C"/>
                </a:solidFill>
                <a:latin typeface="Calibri" panose="020F0502020204030204" pitchFamily="34" charset="0"/>
                <a:ea typeface="Calibri" panose="020F0502020204030204" pitchFamily="34" charset="-122"/>
                <a:cs typeface="Calibri" panose="020F0502020204030204" pitchFamily="34" charset="-120"/>
              </a:rPr>
              <a:t>Dựng nền + Bravo</a:t>
            </a:r>
            <a:endParaRPr lang="en-US" sz="1400" b="1" dirty="0">
              <a:solidFill>
                <a:srgbClr val="0F2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32" name="Text 30"/>
          <p:cNvSpPr/>
          <p:nvPr/>
        </p:nvSpPr>
        <p:spPr>
          <a:xfrm>
            <a:off x="822960" y="3300984"/>
            <a:ext cx="2103120" cy="201168"/>
          </a:xfrm>
          <a:prstGeom prst="rect">
            <a:avLst/>
          </a:prstGeom>
          <a:noFill/>
        </p:spPr>
        <p:txBody>
          <a:bodyPr wrap="square" lIns="0" tIns="0" rIns="0" bIns="0" rtlCol="0" anchor="ctr"/>
          <a:lstStyle/>
          <a:p>
            <a:pPr marL="0" indent="0">
              <a:buNone/>
            </a:pPr>
            <a:r>
              <a:rPr lang="en-US" sz="1200" dirty="0">
                <a:solidFill>
                  <a:srgbClr val="8B99B5"/>
                </a:solidFill>
                <a:latin typeface="Calibri" panose="020F0502020204030204" pitchFamily="34" charset="0"/>
                <a:ea typeface="Calibri" panose="020F0502020204030204" pitchFamily="34" charset="-122"/>
                <a:cs typeface="Calibri" panose="020F0502020204030204" pitchFamily="34" charset="-120"/>
              </a:rPr>
              <a:t>15/08 → 27/08</a:t>
            </a:r>
            <a:endParaRPr lang="en-US" sz="120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33" name="Shape 31"/>
          <p:cNvSpPr/>
          <p:nvPr/>
        </p:nvSpPr>
        <p:spPr>
          <a:xfrm>
            <a:off x="4014216" y="3154680"/>
            <a:ext cx="1133856" cy="274320"/>
          </a:xfrm>
          <a:prstGeom prst="roundRect">
            <a:avLst>
              <a:gd name="adj" fmla="val 20000"/>
            </a:avLst>
          </a:prstGeom>
          <a:solidFill>
            <a:srgbClr val="2563EB"/>
          </a:solidFill>
          <a:ln w="19050">
            <a:solidFill>
              <a:srgbClr val="FFFFFF"/>
            </a:solidFill>
            <a:prstDash val="solid"/>
          </a:ln>
        </p:spPr>
        <p:txBody>
          <a:bodyPr/>
          <a:lstStyle/>
          <a:p>
            <a:endParaRPr lang="en-US" sz="2400"/>
          </a:p>
        </p:txBody>
      </p:sp>
      <p:sp>
        <p:nvSpPr>
          <p:cNvPr id="34" name="Text 32"/>
          <p:cNvSpPr/>
          <p:nvPr/>
        </p:nvSpPr>
        <p:spPr>
          <a:xfrm>
            <a:off x="4014216" y="3154680"/>
            <a:ext cx="1042416" cy="274320"/>
          </a:xfrm>
          <a:prstGeom prst="rect">
            <a:avLst/>
          </a:prstGeom>
          <a:noFill/>
        </p:spPr>
        <p:txBody>
          <a:bodyPr wrap="square" lIns="0" tIns="0" rIns="0" bIns="0" rtlCol="0" anchor="ctr"/>
          <a:lstStyle/>
          <a:p>
            <a:pPr marL="0" indent="0" algn="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2t</a:t>
            </a:r>
            <a:endPar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35" name="Text 33"/>
          <p:cNvSpPr/>
          <p:nvPr/>
        </p:nvSpPr>
        <p:spPr>
          <a:xfrm>
            <a:off x="822960" y="3602736"/>
            <a:ext cx="2103120" cy="219456"/>
          </a:xfrm>
          <a:prstGeom prst="rect">
            <a:avLst/>
          </a:prstGeom>
          <a:noFill/>
        </p:spPr>
        <p:txBody>
          <a:bodyPr wrap="square" lIns="0" tIns="0" rIns="0" bIns="0" rtlCol="0" anchor="ctr"/>
          <a:lstStyle/>
          <a:p>
            <a:pPr marL="0" indent="0">
              <a:buNone/>
            </a:pPr>
            <a:r>
              <a:rPr lang="en-US" sz="1400" b="1" dirty="0">
                <a:solidFill>
                  <a:srgbClr val="0F2A5C"/>
                </a:solidFill>
                <a:latin typeface="Calibri" panose="020F0502020204030204" pitchFamily="34" charset="0"/>
                <a:ea typeface="Calibri" panose="020F0502020204030204" pitchFamily="34" charset="-122"/>
                <a:cs typeface="Calibri" panose="020F0502020204030204" pitchFamily="34" charset="-120"/>
              </a:rPr>
              <a:t>Ba phân hệ</a:t>
            </a:r>
            <a:endParaRPr lang="en-US" sz="1400" b="1" dirty="0">
              <a:solidFill>
                <a:srgbClr val="0F2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36" name="Text 34"/>
          <p:cNvSpPr/>
          <p:nvPr/>
        </p:nvSpPr>
        <p:spPr>
          <a:xfrm>
            <a:off x="822960" y="3803904"/>
            <a:ext cx="2103120" cy="201168"/>
          </a:xfrm>
          <a:prstGeom prst="rect">
            <a:avLst/>
          </a:prstGeom>
          <a:noFill/>
        </p:spPr>
        <p:txBody>
          <a:bodyPr wrap="square" lIns="0" tIns="0" rIns="0" bIns="0" rtlCol="0" anchor="ctr"/>
          <a:lstStyle/>
          <a:p>
            <a:pPr marL="0" indent="0">
              <a:buNone/>
            </a:pPr>
            <a:r>
              <a:rPr lang="en-US" sz="1200" dirty="0">
                <a:solidFill>
                  <a:srgbClr val="8B99B5"/>
                </a:solidFill>
                <a:latin typeface="Calibri" panose="020F0502020204030204" pitchFamily="34" charset="0"/>
                <a:ea typeface="Calibri" panose="020F0502020204030204" pitchFamily="34" charset="-122"/>
                <a:cs typeface="Calibri" panose="020F0502020204030204" pitchFamily="34" charset="-120"/>
              </a:rPr>
              <a:t>27/08 → 27/09</a:t>
            </a:r>
            <a:endParaRPr lang="en-US" sz="120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37" name="Shape 35"/>
          <p:cNvSpPr/>
          <p:nvPr/>
        </p:nvSpPr>
        <p:spPr>
          <a:xfrm>
            <a:off x="5148072" y="3657600"/>
            <a:ext cx="1700784" cy="274320"/>
          </a:xfrm>
          <a:prstGeom prst="roundRect">
            <a:avLst>
              <a:gd name="adj" fmla="val 20000"/>
            </a:avLst>
          </a:prstGeom>
          <a:solidFill>
            <a:srgbClr val="2563EB"/>
          </a:solidFill>
          <a:ln w="19050">
            <a:solidFill>
              <a:srgbClr val="FFFFFF"/>
            </a:solidFill>
            <a:prstDash val="solid"/>
          </a:ln>
        </p:spPr>
        <p:txBody>
          <a:bodyPr/>
          <a:lstStyle/>
          <a:p>
            <a:endParaRPr lang="en-US" sz="2400"/>
          </a:p>
        </p:txBody>
      </p:sp>
      <p:sp>
        <p:nvSpPr>
          <p:cNvPr id="38" name="Text 36"/>
          <p:cNvSpPr/>
          <p:nvPr/>
        </p:nvSpPr>
        <p:spPr>
          <a:xfrm>
            <a:off x="5148072" y="3657600"/>
            <a:ext cx="1609344" cy="274320"/>
          </a:xfrm>
          <a:prstGeom prst="rect">
            <a:avLst/>
          </a:prstGeom>
          <a:noFill/>
        </p:spPr>
        <p:txBody>
          <a:bodyPr wrap="square" lIns="0" tIns="0" rIns="0" bIns="0" rtlCol="0" anchor="ctr"/>
          <a:lstStyle/>
          <a:p>
            <a:pPr marL="0" indent="0" algn="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3t</a:t>
            </a:r>
            <a:endPar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39" name="Text 37"/>
          <p:cNvSpPr/>
          <p:nvPr/>
        </p:nvSpPr>
        <p:spPr>
          <a:xfrm>
            <a:off x="822960" y="4105656"/>
            <a:ext cx="2103120" cy="219456"/>
          </a:xfrm>
          <a:prstGeom prst="rect">
            <a:avLst/>
          </a:prstGeom>
          <a:noFill/>
        </p:spPr>
        <p:txBody>
          <a:bodyPr wrap="square" lIns="0" tIns="0" rIns="0" bIns="0" rtlCol="0" anchor="ctr"/>
          <a:lstStyle/>
          <a:p>
            <a:pPr marL="0" indent="0">
              <a:buNone/>
            </a:pPr>
            <a:r>
              <a:rPr lang="en-US" sz="1400" b="1" dirty="0">
                <a:solidFill>
                  <a:srgbClr val="0F2A5C"/>
                </a:solidFill>
                <a:latin typeface="Calibri" panose="020F0502020204030204" pitchFamily="34" charset="0"/>
                <a:ea typeface="Calibri" panose="020F0502020204030204" pitchFamily="34" charset="-122"/>
                <a:cs typeface="Calibri" panose="020F0502020204030204" pitchFamily="34" charset="-120"/>
              </a:rPr>
              <a:t>Bàn giao thử</a:t>
            </a:r>
            <a:endParaRPr lang="en-US" sz="1400" b="1" dirty="0">
              <a:solidFill>
                <a:srgbClr val="0F2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40" name="Text 38"/>
          <p:cNvSpPr/>
          <p:nvPr/>
        </p:nvSpPr>
        <p:spPr>
          <a:xfrm>
            <a:off x="822960" y="4306824"/>
            <a:ext cx="2103120" cy="201168"/>
          </a:xfrm>
          <a:prstGeom prst="rect">
            <a:avLst/>
          </a:prstGeom>
          <a:noFill/>
        </p:spPr>
        <p:txBody>
          <a:bodyPr wrap="square" lIns="0" tIns="0" rIns="0" bIns="0" rtlCol="0" anchor="ctr"/>
          <a:lstStyle/>
          <a:p>
            <a:pPr marL="0" indent="0">
              <a:buNone/>
            </a:pPr>
            <a:r>
              <a:rPr lang="en-US" sz="1200" dirty="0">
                <a:solidFill>
                  <a:srgbClr val="8B99B5"/>
                </a:solidFill>
                <a:latin typeface="Calibri" panose="020F0502020204030204" pitchFamily="34" charset="0"/>
                <a:ea typeface="Calibri" panose="020F0502020204030204" pitchFamily="34" charset="-122"/>
                <a:cs typeface="Calibri" panose="020F0502020204030204" pitchFamily="34" charset="-120"/>
              </a:rPr>
              <a:t>27/09 → 05/10</a:t>
            </a:r>
            <a:endParaRPr lang="en-US" sz="120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41" name="Shape 39"/>
          <p:cNvSpPr/>
          <p:nvPr/>
        </p:nvSpPr>
        <p:spPr>
          <a:xfrm>
            <a:off x="6848856" y="4160520"/>
            <a:ext cx="1133856" cy="274320"/>
          </a:xfrm>
          <a:prstGeom prst="roundRect">
            <a:avLst>
              <a:gd name="adj" fmla="val 20000"/>
            </a:avLst>
          </a:prstGeom>
          <a:solidFill>
            <a:srgbClr val="2563EB"/>
          </a:solidFill>
          <a:ln w="19050">
            <a:solidFill>
              <a:srgbClr val="FFFFFF"/>
            </a:solidFill>
            <a:prstDash val="solid"/>
          </a:ln>
        </p:spPr>
        <p:txBody>
          <a:bodyPr/>
          <a:lstStyle/>
          <a:p>
            <a:endParaRPr lang="en-US" sz="2400"/>
          </a:p>
        </p:txBody>
      </p:sp>
      <p:sp>
        <p:nvSpPr>
          <p:cNvPr id="42" name="Text 40"/>
          <p:cNvSpPr/>
          <p:nvPr/>
        </p:nvSpPr>
        <p:spPr>
          <a:xfrm>
            <a:off x="6848856" y="4160520"/>
            <a:ext cx="1042416" cy="274320"/>
          </a:xfrm>
          <a:prstGeom prst="rect">
            <a:avLst/>
          </a:prstGeom>
          <a:noFill/>
        </p:spPr>
        <p:txBody>
          <a:bodyPr wrap="square" lIns="0" tIns="0" rIns="0" bIns="0" rtlCol="0" anchor="ctr"/>
          <a:lstStyle/>
          <a:p>
            <a:pPr marL="0" indent="0" algn="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2t</a:t>
            </a:r>
            <a:endPar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43" name="Text 41"/>
          <p:cNvSpPr/>
          <p:nvPr/>
        </p:nvSpPr>
        <p:spPr>
          <a:xfrm>
            <a:off x="822960" y="4608576"/>
            <a:ext cx="2103120" cy="219456"/>
          </a:xfrm>
          <a:prstGeom prst="rect">
            <a:avLst/>
          </a:prstGeom>
          <a:noFill/>
        </p:spPr>
        <p:txBody>
          <a:bodyPr wrap="square" lIns="0" tIns="0" rIns="0" bIns="0" rtlCol="0" anchor="ctr"/>
          <a:lstStyle/>
          <a:p>
            <a:pPr marL="0" indent="0">
              <a:buNone/>
            </a:pPr>
            <a:r>
              <a:rPr lang="en-US" sz="1400" b="1" dirty="0">
                <a:solidFill>
                  <a:srgbClr val="0F2A5C"/>
                </a:solidFill>
                <a:latin typeface="Calibri" panose="020F0502020204030204" pitchFamily="34" charset="0"/>
                <a:ea typeface="Calibri" panose="020F0502020204030204" pitchFamily="34" charset="-122"/>
                <a:cs typeface="Calibri" panose="020F0502020204030204" pitchFamily="34" charset="-120"/>
              </a:rPr>
              <a:t>Đồng hành</a:t>
            </a:r>
            <a:endParaRPr lang="en-US" sz="1400" b="1" dirty="0">
              <a:solidFill>
                <a:srgbClr val="0F2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44" name="Text 42"/>
          <p:cNvSpPr/>
          <p:nvPr/>
        </p:nvSpPr>
        <p:spPr>
          <a:xfrm>
            <a:off x="822960" y="4809744"/>
            <a:ext cx="2103120" cy="201168"/>
          </a:xfrm>
          <a:prstGeom prst="rect">
            <a:avLst/>
          </a:prstGeom>
          <a:noFill/>
        </p:spPr>
        <p:txBody>
          <a:bodyPr wrap="square" lIns="0" tIns="0" rIns="0" bIns="0" rtlCol="0" anchor="ctr"/>
          <a:lstStyle/>
          <a:p>
            <a:pPr marL="0" indent="0">
              <a:buNone/>
            </a:pPr>
            <a:r>
              <a:rPr lang="en-US" sz="1200" dirty="0">
                <a:solidFill>
                  <a:srgbClr val="8B99B5"/>
                </a:solidFill>
                <a:latin typeface="Calibri" panose="020F0502020204030204" pitchFamily="34" charset="0"/>
                <a:ea typeface="Calibri" panose="020F0502020204030204" pitchFamily="34" charset="-122"/>
                <a:cs typeface="Calibri" panose="020F0502020204030204" pitchFamily="34" charset="-120"/>
              </a:rPr>
              <a:t>05/10 → 25/10</a:t>
            </a:r>
            <a:endParaRPr lang="en-US" sz="120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45" name="Shape 43"/>
          <p:cNvSpPr/>
          <p:nvPr/>
        </p:nvSpPr>
        <p:spPr>
          <a:xfrm>
            <a:off x="7982712" y="4663440"/>
            <a:ext cx="2267712" cy="274320"/>
          </a:xfrm>
          <a:prstGeom prst="roundRect">
            <a:avLst>
              <a:gd name="adj" fmla="val 20000"/>
            </a:avLst>
          </a:prstGeom>
          <a:solidFill>
            <a:srgbClr val="059669"/>
          </a:solidFill>
          <a:ln w="19050">
            <a:solidFill>
              <a:srgbClr val="FFFFFF"/>
            </a:solidFill>
            <a:prstDash val="solid"/>
          </a:ln>
        </p:spPr>
        <p:txBody>
          <a:bodyPr/>
          <a:lstStyle/>
          <a:p>
            <a:endParaRPr lang="en-US" sz="2400"/>
          </a:p>
        </p:txBody>
      </p:sp>
      <p:sp>
        <p:nvSpPr>
          <p:cNvPr id="46" name="Text 44"/>
          <p:cNvSpPr/>
          <p:nvPr/>
        </p:nvSpPr>
        <p:spPr>
          <a:xfrm>
            <a:off x="7982712" y="4663440"/>
            <a:ext cx="2176272" cy="274320"/>
          </a:xfrm>
          <a:prstGeom prst="rect">
            <a:avLst/>
          </a:prstGeom>
          <a:noFill/>
        </p:spPr>
        <p:txBody>
          <a:bodyPr wrap="square" lIns="0" tIns="0" rIns="0" bIns="0" rtlCol="0" anchor="ctr"/>
          <a:lstStyle/>
          <a:p>
            <a:pPr marL="0" indent="0" algn="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4t</a:t>
            </a:r>
            <a:endPar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47" name="Text 45"/>
          <p:cNvSpPr/>
          <p:nvPr/>
        </p:nvSpPr>
        <p:spPr>
          <a:xfrm>
            <a:off x="822960" y="5111496"/>
            <a:ext cx="2103120" cy="219456"/>
          </a:xfrm>
          <a:prstGeom prst="rect">
            <a:avLst/>
          </a:prstGeom>
          <a:noFill/>
        </p:spPr>
        <p:txBody>
          <a:bodyPr wrap="square" lIns="0" tIns="0" rIns="0" bIns="0" rtlCol="0" anchor="ctr"/>
          <a:lstStyle/>
          <a:p>
            <a:pPr marL="0" indent="0">
              <a:buNone/>
            </a:pPr>
            <a:r>
              <a:rPr lang="en-US" sz="1400" b="1" dirty="0">
                <a:solidFill>
                  <a:srgbClr val="0F2A5C"/>
                </a:solidFill>
                <a:latin typeface="Calibri" panose="020F0502020204030204" pitchFamily="34" charset="0"/>
                <a:ea typeface="Calibri" panose="020F0502020204030204" pitchFamily="34" charset="-122"/>
                <a:cs typeface="Calibri" panose="020F0502020204030204" pitchFamily="34" charset="-120"/>
              </a:rPr>
              <a:t>Vận hành thật</a:t>
            </a:r>
            <a:endParaRPr lang="en-US" sz="1400" b="1" dirty="0">
              <a:solidFill>
                <a:srgbClr val="0F2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48" name="Text 46"/>
          <p:cNvSpPr/>
          <p:nvPr/>
        </p:nvSpPr>
        <p:spPr>
          <a:xfrm>
            <a:off x="822960" y="5312664"/>
            <a:ext cx="2103120" cy="201168"/>
          </a:xfrm>
          <a:prstGeom prst="rect">
            <a:avLst/>
          </a:prstGeom>
          <a:noFill/>
        </p:spPr>
        <p:txBody>
          <a:bodyPr wrap="square" lIns="0" tIns="0" rIns="0" bIns="0" rtlCol="0" anchor="ctr"/>
          <a:lstStyle/>
          <a:p>
            <a:pPr marL="0" indent="0">
              <a:buNone/>
            </a:pPr>
            <a:r>
              <a:rPr lang="en-US" sz="1200" dirty="0">
                <a:solidFill>
                  <a:srgbClr val="8B99B5"/>
                </a:solidFill>
                <a:latin typeface="Calibri" panose="020F0502020204030204" pitchFamily="34" charset="0"/>
                <a:ea typeface="Calibri" panose="020F0502020204030204" pitchFamily="34" charset="-122"/>
                <a:cs typeface="Calibri" panose="020F0502020204030204" pitchFamily="34" charset="-120"/>
              </a:rPr>
              <a:t>25/10 → 08/11</a:t>
            </a:r>
            <a:endParaRPr lang="en-US" sz="120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49" name="Shape 47"/>
          <p:cNvSpPr/>
          <p:nvPr/>
        </p:nvSpPr>
        <p:spPr>
          <a:xfrm>
            <a:off x="10250424" y="5166360"/>
            <a:ext cx="1133856" cy="274320"/>
          </a:xfrm>
          <a:prstGeom prst="roundRect">
            <a:avLst>
              <a:gd name="adj" fmla="val 20000"/>
            </a:avLst>
          </a:prstGeom>
          <a:solidFill>
            <a:srgbClr val="059669"/>
          </a:solidFill>
          <a:ln w="19050">
            <a:solidFill>
              <a:srgbClr val="FFFFFF"/>
            </a:solidFill>
            <a:prstDash val="solid"/>
          </a:ln>
        </p:spPr>
        <p:txBody>
          <a:bodyPr/>
          <a:lstStyle/>
          <a:p>
            <a:endParaRPr lang="en-US" sz="2400"/>
          </a:p>
        </p:txBody>
      </p:sp>
      <p:sp>
        <p:nvSpPr>
          <p:cNvPr id="50" name="Text 48"/>
          <p:cNvSpPr/>
          <p:nvPr/>
        </p:nvSpPr>
        <p:spPr>
          <a:xfrm>
            <a:off x="10250424" y="5166360"/>
            <a:ext cx="1042416" cy="274320"/>
          </a:xfrm>
          <a:prstGeom prst="rect">
            <a:avLst/>
          </a:prstGeom>
          <a:noFill/>
        </p:spPr>
        <p:txBody>
          <a:bodyPr wrap="square" lIns="0" tIns="0" rIns="0" bIns="0" rtlCol="0" anchor="ctr"/>
          <a:lstStyle/>
          <a:p>
            <a:pPr marL="0" indent="0" algn="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2t</a:t>
            </a:r>
            <a:endPar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52" name="Text 50"/>
          <p:cNvSpPr/>
          <p:nvPr/>
        </p:nvSpPr>
        <p:spPr>
          <a:xfrm>
            <a:off x="548640" y="6419088"/>
            <a:ext cx="6858000" cy="256032"/>
          </a:xfrm>
          <a:prstGeom prst="rect">
            <a:avLst/>
          </a:prstGeom>
          <a:noFill/>
        </p:spPr>
        <p:txBody>
          <a:bodyPr wrap="square" lIns="0" tIns="0" rIns="0" bIns="0" rtlCol="0" anchor="ctr"/>
          <a:lstStyle/>
          <a:p>
            <a:pPr marL="0" indent="0">
              <a:buNone/>
            </a:pPr>
            <a:r>
              <a:rPr lang="en-US" sz="850" kern="0" spc="60" dirty="0">
                <a:solidFill>
                  <a:srgbClr val="8B99B5"/>
                </a:solidFill>
                <a:latin typeface="Calibri" panose="020F0502020204030204" pitchFamily="34" charset="0"/>
                <a:ea typeface="Calibri" panose="020F0502020204030204" pitchFamily="34" charset="-122"/>
                <a:cs typeface="Calibri" panose="020F0502020204030204" pitchFamily="34" charset="-120"/>
              </a:rPr>
              <a:t>SMARTLOG × UNIS  ·  TÀI LIỆU TRAO ĐỔI</a:t>
            </a:r>
            <a:endParaRPr lang="en-US" sz="850" kern="0" spc="6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53" name="Text 51"/>
          <p:cNvSpPr/>
          <p:nvPr/>
        </p:nvSpPr>
        <p:spPr>
          <a:xfrm>
            <a:off x="10210800" y="6419215"/>
            <a:ext cx="1459865" cy="255905"/>
          </a:xfrm>
          <a:prstGeom prst="rect">
            <a:avLst/>
          </a:prstGeom>
          <a:noFill/>
        </p:spPr>
        <p:txBody>
          <a:bodyPr wrap="square" lIns="0" tIns="0" rIns="0" bIns="0" rtlCol="0" anchor="ctr"/>
          <a:lstStyle/>
          <a:p>
            <a:pPr marL="0" indent="0" algn="r">
              <a:buNone/>
            </a:pPr>
            <a:r>
              <a:rPr lang="en-US" sz="850" kern="0" spc="60" dirty="0">
                <a:solidFill>
                  <a:srgbClr val="8B99B5"/>
                </a:solidFill>
                <a:latin typeface="Calibri" panose="020F0502020204030204" pitchFamily="34" charset="0"/>
                <a:ea typeface="Calibri" panose="020F0502020204030204" pitchFamily="34" charset="-122"/>
                <a:cs typeface="Calibri" panose="020F0502020204030204" pitchFamily="34" charset="-120"/>
              </a:rPr>
              <a:t>TIMELINE   08 / 17</a:t>
            </a:r>
            <a:endParaRPr lang="en-US" sz="850" kern="0" spc="6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02336"/>
            <a:ext cx="137160" cy="137160"/>
          </a:xfrm>
          <a:prstGeom prst="roundRect">
            <a:avLst>
              <a:gd name="adj" fmla="val 23333"/>
            </a:avLst>
          </a:prstGeom>
          <a:solidFill>
            <a:srgbClr val="EAB308"/>
          </a:solidFill>
          <a:ln w="12700">
            <a:solidFill>
              <a:srgbClr val="EAB308"/>
            </a:solidFill>
            <a:prstDash val="solid"/>
          </a:ln>
        </p:spPr>
        <p:txBody>
          <a:bodyPr/>
          <a:lstStyle/>
          <a:p>
            <a:endParaRPr lang="en-US"/>
          </a:p>
        </p:txBody>
      </p:sp>
      <p:sp>
        <p:nvSpPr>
          <p:cNvPr id="3" name="Text 1"/>
          <p:cNvSpPr/>
          <p:nvPr/>
        </p:nvSpPr>
        <p:spPr>
          <a:xfrm>
            <a:off x="786384" y="329184"/>
            <a:ext cx="10820095" cy="274320"/>
          </a:xfrm>
          <a:prstGeom prst="rect">
            <a:avLst/>
          </a:prstGeom>
          <a:noFill/>
        </p:spPr>
        <p:txBody>
          <a:bodyPr wrap="square" lIns="0" tIns="0" rIns="0" bIns="0" rtlCol="0" anchor="ctr"/>
          <a:lstStyle/>
          <a:p>
            <a:pPr marL="0" indent="0">
              <a:buNone/>
            </a:pPr>
            <a:r>
              <a:rPr lang="en-US" sz="1400" b="1" kern="0" spc="160" dirty="0">
                <a:solidFill>
                  <a:srgbClr val="A16207"/>
                </a:solidFill>
                <a:latin typeface="Calibri" panose="020F0502020204030204" pitchFamily="34" charset="0"/>
                <a:ea typeface="Calibri" panose="020F0502020204030204" pitchFamily="34" charset="-122"/>
                <a:cs typeface="Calibri" panose="020F0502020204030204" pitchFamily="34" charset="-120"/>
              </a:rPr>
              <a:t>05 · CHI TIẾT CÁC CHẶNG (1/3)</a:t>
            </a:r>
            <a:endParaRPr lang="en-US" sz="1400" b="1" kern="0" spc="160" dirty="0">
              <a:solidFill>
                <a:srgbClr val="A16207"/>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48640" y="640080"/>
            <a:ext cx="10607040" cy="566928"/>
          </a:xfrm>
          <a:prstGeom prst="rect">
            <a:avLst/>
          </a:prstGeom>
          <a:noFill/>
        </p:spPr>
        <p:txBody>
          <a:bodyPr wrap="square" lIns="0" tIns="0" rIns="0" bIns="0" rtlCol="0" anchor="t"/>
          <a:lstStyle/>
          <a:p>
            <a:pPr marL="0" indent="0">
              <a:buNone/>
            </a:pPr>
            <a:r>
              <a:rPr lang="en-US" sz="2500" b="1" dirty="0">
                <a:solidFill>
                  <a:srgbClr val="0F2A5C"/>
                </a:solidFill>
                <a:latin typeface="Calibri" panose="020F0502020204030204" pitchFamily="34" charset="0"/>
                <a:ea typeface="Calibri" panose="020F0502020204030204" pitchFamily="34" charset="-122"/>
                <a:cs typeface="Calibri" panose="020F0502020204030204" pitchFamily="34" charset="-120"/>
              </a:rPr>
              <a:t>Từ chốt phạm vi đến khi ba phân hệ thành hình</a:t>
            </a:r>
            <a:endParaRPr lang="en-US" sz="2500" dirty="0"/>
          </a:p>
        </p:txBody>
      </p:sp>
      <p:sp>
        <p:nvSpPr>
          <p:cNvPr id="5" name="Text 3"/>
          <p:cNvSpPr/>
          <p:nvPr/>
        </p:nvSpPr>
        <p:spPr>
          <a:xfrm>
            <a:off x="548640" y="1188720"/>
            <a:ext cx="10881360" cy="347472"/>
          </a:xfrm>
          <a:prstGeom prst="rect">
            <a:avLst/>
          </a:prstGeom>
          <a:noFill/>
        </p:spPr>
        <p:txBody>
          <a:bodyPr wrap="square" lIns="0" tIns="0" rIns="0" bIns="0" rtlCol="0" anchor="t"/>
          <a:lstStyle/>
          <a:p>
            <a:pPr marL="0" indent="0">
              <a:lnSpc>
                <a:spcPct val="115000"/>
              </a:lnSpc>
              <a:buNone/>
            </a:pPr>
            <a:r>
              <a:rPr lang="en-US" sz="1600" dirty="0">
                <a:solidFill>
                  <a:srgbClr val="45577A"/>
                </a:solidFill>
                <a:latin typeface="Calibri" panose="020F0502020204030204" pitchFamily="34" charset="0"/>
                <a:ea typeface="Calibri" panose="020F0502020204030204" pitchFamily="34" charset="-122"/>
                <a:cs typeface="Calibri" panose="020F0502020204030204" pitchFamily="34" charset="-120"/>
              </a:rPr>
              <a:t>Mỗi chặng có điều kiện nghiệm thu cụ thể — đạt mới tính là xong, không tính theo lịch.</a:t>
            </a:r>
            <a:endParaRPr lang="en-US" sz="16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548640" y="1682496"/>
            <a:ext cx="11094415" cy="2212848"/>
          </a:xfrm>
          <a:prstGeom prst="roundRect">
            <a:avLst>
              <a:gd name="adj" fmla="val 3719"/>
            </a:avLst>
          </a:prstGeom>
          <a:solidFill>
            <a:srgbClr val="FFFFFF"/>
          </a:solidFill>
          <a:ln w="12700">
            <a:solidFill>
              <a:srgbClr val="DDE5F0"/>
            </a:solidFill>
            <a:prstDash val="solid"/>
          </a:ln>
          <a:effectLst>
            <a:outerShdw blurRad="114300" dist="17780" dir="5400000" algn="bl" rotWithShape="0">
              <a:srgbClr val="0F2A5C">
                <a:alpha val="9000"/>
              </a:srgbClr>
            </a:outerShdw>
          </a:effectLst>
        </p:spPr>
        <p:txBody>
          <a:bodyPr/>
          <a:lstStyle/>
          <a:p>
            <a:endParaRPr lang="en-US" sz="2400"/>
          </a:p>
        </p:txBody>
      </p:sp>
      <p:sp>
        <p:nvSpPr>
          <p:cNvPr id="7" name="Shape 5"/>
          <p:cNvSpPr/>
          <p:nvPr/>
        </p:nvSpPr>
        <p:spPr>
          <a:xfrm>
            <a:off x="768096" y="1828800"/>
            <a:ext cx="457200" cy="256032"/>
          </a:xfrm>
          <a:prstGeom prst="roundRect">
            <a:avLst>
              <a:gd name="adj" fmla="val 21429"/>
            </a:avLst>
          </a:prstGeom>
          <a:solidFill>
            <a:srgbClr val="B45309"/>
          </a:solidFill>
          <a:ln w="12700">
            <a:solidFill>
              <a:srgbClr val="333333"/>
            </a:solidFill>
            <a:prstDash val="solid"/>
          </a:ln>
        </p:spPr>
        <p:txBody>
          <a:bodyPr/>
          <a:lstStyle/>
          <a:p>
            <a:endParaRPr lang="en-US" sz="2400"/>
          </a:p>
        </p:txBody>
      </p:sp>
      <p:sp>
        <p:nvSpPr>
          <p:cNvPr id="8" name="Text 6"/>
          <p:cNvSpPr/>
          <p:nvPr/>
        </p:nvSpPr>
        <p:spPr>
          <a:xfrm>
            <a:off x="768096" y="1828800"/>
            <a:ext cx="457200" cy="256032"/>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C0</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Text 7"/>
          <p:cNvSpPr/>
          <p:nvPr/>
        </p:nvSpPr>
        <p:spPr>
          <a:xfrm>
            <a:off x="1316736" y="1801368"/>
            <a:ext cx="6949440" cy="310896"/>
          </a:xfrm>
          <a:prstGeom prst="rect">
            <a:avLst/>
          </a:prstGeom>
          <a:noFill/>
        </p:spPr>
        <p:txBody>
          <a:bodyPr wrap="square" lIns="0" tIns="0" rIns="0" bIns="0" rtlCol="0" anchor="ctr"/>
          <a:lstStyle/>
          <a:p>
            <a:pPr marL="0" indent="0">
              <a:buNone/>
            </a:pPr>
            <a:r>
              <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rPr>
              <a:t> </a:t>
            </a:r>
            <a:r>
              <a:rPr lang="en-US" sz="1600" b="1" dirty="0" err="1">
                <a:solidFill>
                  <a:srgbClr val="0F2A5C"/>
                </a:solidFill>
                <a:latin typeface="Calibri" panose="020F0502020204030204" pitchFamily="34" charset="0"/>
                <a:ea typeface="Calibri" panose="020F0502020204030204" pitchFamily="34" charset="-122"/>
                <a:cs typeface="Calibri" panose="020F0502020204030204" pitchFamily="34" charset="-120"/>
              </a:rPr>
              <a:t>Chốt</a:t>
            </a:r>
            <a:r>
              <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rPr>
              <a:t> </a:t>
            </a:r>
            <a:r>
              <a:rPr lang="en-US" sz="1600" b="1" dirty="0" err="1">
                <a:solidFill>
                  <a:srgbClr val="0F2A5C"/>
                </a:solidFill>
                <a:latin typeface="Calibri" panose="020F0502020204030204" pitchFamily="34" charset="0"/>
                <a:ea typeface="Calibri" panose="020F0502020204030204" pitchFamily="34" charset="-122"/>
                <a:cs typeface="Calibri" panose="020F0502020204030204" pitchFamily="34" charset="-120"/>
              </a:rPr>
              <a:t>phương</a:t>
            </a:r>
            <a:r>
              <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rPr>
              <a:t> </a:t>
            </a:r>
            <a:r>
              <a:rPr lang="en-US" sz="1600" b="1" dirty="0" err="1">
                <a:solidFill>
                  <a:srgbClr val="0F2A5C"/>
                </a:solidFill>
                <a:latin typeface="Calibri" panose="020F0502020204030204" pitchFamily="34" charset="0"/>
                <a:ea typeface="Calibri" panose="020F0502020204030204" pitchFamily="34" charset="-122"/>
                <a:cs typeface="Calibri" panose="020F0502020204030204" pitchFamily="34" charset="-120"/>
              </a:rPr>
              <a:t>án</a:t>
            </a:r>
            <a:r>
              <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rPr>
              <a:t> </a:t>
            </a:r>
            <a:r>
              <a:rPr lang="en-US" sz="1600" b="1" dirty="0" err="1">
                <a:solidFill>
                  <a:srgbClr val="0F2A5C"/>
                </a:solidFill>
                <a:latin typeface="Calibri" panose="020F0502020204030204" pitchFamily="34" charset="0"/>
                <a:ea typeface="Calibri" panose="020F0502020204030204" pitchFamily="34" charset="-122"/>
                <a:cs typeface="Calibri" panose="020F0502020204030204" pitchFamily="34" charset="-120"/>
              </a:rPr>
              <a:t>và</a:t>
            </a:r>
            <a:r>
              <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rPr>
              <a:t> </a:t>
            </a:r>
            <a:r>
              <a:rPr lang="en-US" sz="1600" b="1" dirty="0" err="1">
                <a:solidFill>
                  <a:srgbClr val="0F2A5C"/>
                </a:solidFill>
                <a:latin typeface="Calibri" panose="020F0502020204030204" pitchFamily="34" charset="0"/>
                <a:ea typeface="Calibri" panose="020F0502020204030204" pitchFamily="34" charset="-122"/>
                <a:cs typeface="Calibri" panose="020F0502020204030204" pitchFamily="34" charset="-120"/>
              </a:rPr>
              <a:t>nhân</a:t>
            </a:r>
            <a:r>
              <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rPr>
              <a:t> </a:t>
            </a:r>
            <a:r>
              <a:rPr lang="en-US" sz="1600" b="1" dirty="0" err="1">
                <a:solidFill>
                  <a:srgbClr val="0F2A5C"/>
                </a:solidFill>
                <a:latin typeface="Calibri" panose="020F0502020204030204" pitchFamily="34" charset="0"/>
                <a:ea typeface="Calibri" panose="020F0502020204030204" pitchFamily="34" charset="-122"/>
                <a:cs typeface="Calibri" panose="020F0502020204030204" pitchFamily="34" charset="-120"/>
              </a:rPr>
              <a:t>lực</a:t>
            </a:r>
            <a:r>
              <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rPr>
              <a:t> </a:t>
            </a:r>
            <a:endPar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Text 8"/>
          <p:cNvSpPr/>
          <p:nvPr/>
        </p:nvSpPr>
        <p:spPr>
          <a:xfrm>
            <a:off x="9146540" y="1801368"/>
            <a:ext cx="2148840" cy="310896"/>
          </a:xfrm>
          <a:prstGeom prst="rect">
            <a:avLst/>
          </a:prstGeom>
          <a:noFill/>
        </p:spPr>
        <p:txBody>
          <a:bodyPr wrap="square" lIns="0" tIns="0" rIns="0" bIns="0" rtlCol="0" anchor="ctr"/>
          <a:lstStyle/>
          <a:p>
            <a:pPr marL="0" indent="0" algn="r">
              <a:buNone/>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15/08/2026</a:t>
            </a:r>
            <a:endPar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Shape 11"/>
          <p:cNvSpPr/>
          <p:nvPr/>
        </p:nvSpPr>
        <p:spPr>
          <a:xfrm>
            <a:off x="768096" y="2176272"/>
            <a:ext cx="10655503" cy="0"/>
          </a:xfrm>
          <a:prstGeom prst="line">
            <a:avLst/>
          </a:prstGeom>
          <a:noFill/>
          <a:ln w="9525">
            <a:solidFill>
              <a:srgbClr val="DDE5F0"/>
            </a:solidFill>
            <a:prstDash val="solid"/>
          </a:ln>
        </p:spPr>
        <p:txBody>
          <a:bodyPr/>
          <a:lstStyle/>
          <a:p>
            <a:endParaRPr lang="en-US"/>
          </a:p>
        </p:txBody>
      </p:sp>
      <p:sp>
        <p:nvSpPr>
          <p:cNvPr id="14" name="Text 12"/>
          <p:cNvSpPr/>
          <p:nvPr/>
        </p:nvSpPr>
        <p:spPr>
          <a:xfrm>
            <a:off x="804672" y="2267712"/>
            <a:ext cx="2743200" cy="201168"/>
          </a:xfrm>
          <a:prstGeom prst="rect">
            <a:avLst/>
          </a:prstGeom>
          <a:noFill/>
        </p:spPr>
        <p:txBody>
          <a:bodyPr wrap="square" lIns="0" tIns="0" rIns="0" bIns="0" rtlCol="0" anchor="ctr"/>
          <a:lstStyle/>
          <a:p>
            <a:pPr marL="0" indent="0">
              <a:buNone/>
            </a:pPr>
            <a:r>
              <a:rPr lang="en-US" sz="1400" b="1" kern="0" spc="120" dirty="0">
                <a:solidFill>
                  <a:srgbClr val="8B99B5"/>
                </a:solidFill>
                <a:latin typeface="Calibri" panose="020F0502020204030204" pitchFamily="34" charset="0"/>
                <a:ea typeface="Calibri" panose="020F0502020204030204" pitchFamily="34" charset="-122"/>
                <a:cs typeface="Calibri" panose="020F0502020204030204" pitchFamily="34" charset="-120"/>
              </a:rPr>
              <a:t>VIỆC SẼ LÀM</a:t>
            </a:r>
            <a:endParaRPr lang="en-US" sz="1400" b="1" kern="0" spc="12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Text 13"/>
          <p:cNvSpPr/>
          <p:nvPr/>
        </p:nvSpPr>
        <p:spPr>
          <a:xfrm>
            <a:off x="859790" y="2554605"/>
            <a:ext cx="10615295" cy="895985"/>
          </a:xfrm>
          <a:prstGeom prst="rect">
            <a:avLst/>
          </a:prstGeom>
          <a:noFill/>
        </p:spPr>
        <p:txBody>
          <a:bodyPr wrap="square" lIns="0" tIns="0" rIns="0" bIns="0" rtlCol="0" anchor="t"/>
          <a:lstStyle/>
          <a:p>
            <a:pPr marL="152400" indent="-152400">
              <a:lnSpc>
                <a:spcPct val="106000"/>
              </a:lnSpc>
              <a:spcAft>
                <a:spcPts val="300"/>
              </a:spcAft>
              <a:buSzPct val="100000"/>
              <a:buChar char="•"/>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Chốt danh sách module (checklist ở mục Phạm vi module) thành phụ lục hợp đồng</a:t>
            </a:r>
            <a:endParaRPr lang="en-US" sz="1400" dirty="0"/>
          </a:p>
          <a:p>
            <a:pPr marL="152400" indent="-152400">
              <a:lnSpc>
                <a:spcPct val="106000"/>
              </a:lnSpc>
              <a:spcAft>
                <a:spcPts val="300"/>
              </a:spcAft>
              <a:buSzPct val="100000"/>
              <a:buChar char="•"/>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Chọn đích danh kho + tuyến + nhóm khách làm thí điểm</a:t>
            </a:r>
            <a:endParaRPr lang="en-US" sz="1400" dirty="0"/>
          </a:p>
          <a:p>
            <a:pPr marL="152400" indent="-152400">
              <a:lnSpc>
                <a:spcPct val="106000"/>
              </a:lnSpc>
              <a:spcAft>
                <a:spcPts val="300"/>
              </a:spcAft>
              <a:buSzPct val="100000"/>
              <a:buChar char="•"/>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Kiểm tra nhanh dữ liệu: mã hàng, mã vạch, danh mục kho có sẵn sàng chưa</a:t>
            </a:r>
            <a:endPar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Shape 16"/>
          <p:cNvSpPr/>
          <p:nvPr/>
        </p:nvSpPr>
        <p:spPr>
          <a:xfrm>
            <a:off x="768096" y="3419856"/>
            <a:ext cx="10655503" cy="365760"/>
          </a:xfrm>
          <a:prstGeom prst="roundRect">
            <a:avLst>
              <a:gd name="adj" fmla="val 17500"/>
            </a:avLst>
          </a:prstGeom>
          <a:solidFill>
            <a:srgbClr val="FDF6DF"/>
          </a:solidFill>
          <a:ln w="12700">
            <a:solidFill>
              <a:srgbClr val="F0DFAA"/>
            </a:solidFill>
            <a:prstDash val="solid"/>
          </a:ln>
        </p:spPr>
        <p:txBody>
          <a:bodyPr/>
          <a:lstStyle/>
          <a:p>
            <a:endParaRPr lang="en-US" sz="2400"/>
          </a:p>
        </p:txBody>
      </p:sp>
      <p:sp>
        <p:nvSpPr>
          <p:cNvPr id="19" name="Text 17"/>
          <p:cNvSpPr/>
          <p:nvPr/>
        </p:nvSpPr>
        <p:spPr>
          <a:xfrm>
            <a:off x="932688" y="3419856"/>
            <a:ext cx="10362895" cy="365760"/>
          </a:xfrm>
          <a:prstGeom prst="rect">
            <a:avLst/>
          </a:prstGeom>
          <a:noFill/>
        </p:spPr>
        <p:txBody>
          <a:bodyPr wrap="square" lIns="0" tIns="0" rIns="0" bIns="0" rtlCol="0" anchor="ctr"/>
          <a:lstStyle/>
          <a:p>
            <a:pPr marL="0" indent="0">
              <a:buNone/>
            </a:pPr>
            <a:r>
              <a:rPr lang="en-US" sz="1400" b="1" dirty="0">
                <a:solidFill>
                  <a:srgbClr val="A16207"/>
                </a:solidFill>
                <a:latin typeface="Calibri" panose="020F0502020204030204" pitchFamily="34" charset="0"/>
                <a:ea typeface="Calibri" panose="020F0502020204030204" pitchFamily="34" charset="-122"/>
                <a:cs typeface="Calibri" panose="020F0502020204030204" pitchFamily="34" charset="-120"/>
              </a:rPr>
              <a:t>Điều kiện nghiệm thu:  </a:t>
            </a:r>
            <a:r>
              <a:rPr lang="en-US" sz="1400" dirty="0">
                <a:solidFill>
                  <a:srgbClr val="14213C"/>
                </a:solidFill>
                <a:latin typeface="Calibri" panose="020F0502020204030204" pitchFamily="34" charset="0"/>
                <a:ea typeface="Calibri" panose="020F0502020204030204" pitchFamily="34" charset="-122"/>
                <a:cs typeface="Calibri" panose="020F0502020204030204" pitchFamily="34" charset="-120"/>
              </a:rPr>
              <a:t>Hợp đồng + phụ lục phạm vi ký trước 07/08 · kho/tuyến/nhóm khách thí điểm được nêu đích danh.</a:t>
            </a:r>
            <a:endParaRPr lang="en-US" sz="1400" dirty="0">
              <a:solidFill>
                <a:srgbClr val="14213C"/>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Shape 18"/>
          <p:cNvSpPr/>
          <p:nvPr/>
        </p:nvSpPr>
        <p:spPr>
          <a:xfrm>
            <a:off x="548640" y="4078224"/>
            <a:ext cx="11094415" cy="2212848"/>
          </a:xfrm>
          <a:prstGeom prst="roundRect">
            <a:avLst>
              <a:gd name="adj" fmla="val 3719"/>
            </a:avLst>
          </a:prstGeom>
          <a:solidFill>
            <a:srgbClr val="FFFFFF"/>
          </a:solidFill>
          <a:ln w="12700">
            <a:solidFill>
              <a:srgbClr val="DDE5F0"/>
            </a:solidFill>
            <a:prstDash val="solid"/>
          </a:ln>
          <a:effectLst>
            <a:outerShdw blurRad="114300" dist="17780" dir="5400000" algn="bl" rotWithShape="0">
              <a:srgbClr val="0F2A5C">
                <a:alpha val="9000"/>
              </a:srgbClr>
            </a:outerShdw>
          </a:effectLst>
        </p:spPr>
        <p:txBody>
          <a:bodyPr/>
          <a:lstStyle/>
          <a:p>
            <a:endParaRPr lang="en-US" sz="2400"/>
          </a:p>
        </p:txBody>
      </p:sp>
      <p:sp>
        <p:nvSpPr>
          <p:cNvPr id="21" name="Shape 19"/>
          <p:cNvSpPr/>
          <p:nvPr/>
        </p:nvSpPr>
        <p:spPr>
          <a:xfrm>
            <a:off x="768096" y="4224528"/>
            <a:ext cx="457200" cy="256032"/>
          </a:xfrm>
          <a:prstGeom prst="roundRect">
            <a:avLst>
              <a:gd name="adj" fmla="val 21429"/>
            </a:avLst>
          </a:prstGeom>
          <a:solidFill>
            <a:srgbClr val="2563EB"/>
          </a:solidFill>
          <a:ln w="12700">
            <a:solidFill>
              <a:srgbClr val="333333"/>
            </a:solidFill>
            <a:prstDash val="solid"/>
          </a:ln>
        </p:spPr>
        <p:txBody>
          <a:bodyPr/>
          <a:lstStyle/>
          <a:p>
            <a:endParaRPr lang="en-US" sz="2400"/>
          </a:p>
        </p:txBody>
      </p:sp>
      <p:sp>
        <p:nvSpPr>
          <p:cNvPr id="22" name="Text 20"/>
          <p:cNvSpPr/>
          <p:nvPr/>
        </p:nvSpPr>
        <p:spPr>
          <a:xfrm>
            <a:off x="768096" y="4224528"/>
            <a:ext cx="457200" cy="256032"/>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C1</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Text 21"/>
          <p:cNvSpPr/>
          <p:nvPr/>
        </p:nvSpPr>
        <p:spPr>
          <a:xfrm>
            <a:off x="1316736" y="4197096"/>
            <a:ext cx="6949440" cy="310896"/>
          </a:xfrm>
          <a:prstGeom prst="rect">
            <a:avLst/>
          </a:prstGeom>
          <a:noFill/>
        </p:spPr>
        <p:txBody>
          <a:bodyPr wrap="square" lIns="0" tIns="0" rIns="0" bIns="0" rtlCol="0" anchor="ctr"/>
          <a:lstStyle/>
          <a:p>
            <a:pPr marL="0" indent="0">
              <a:buNone/>
            </a:pPr>
            <a:r>
              <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rPr>
              <a:t>Tuần 1–2 </a:t>
            </a:r>
            <a:r>
              <a:rPr lang="en-US" sz="1600" b="1" dirty="0" err="1">
                <a:solidFill>
                  <a:srgbClr val="0F2A5C"/>
                </a:solidFill>
                <a:latin typeface="Calibri" panose="020F0502020204030204" pitchFamily="34" charset="0"/>
                <a:ea typeface="Calibri" panose="020F0502020204030204" pitchFamily="34" charset="-122"/>
                <a:cs typeface="Calibri" panose="020F0502020204030204" pitchFamily="34" charset="-120"/>
              </a:rPr>
              <a:t>Dựng</a:t>
            </a:r>
            <a:r>
              <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rPr>
              <a:t> nền &amp; kết nối Bravo</a:t>
            </a:r>
            <a:endPar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Text 22"/>
          <p:cNvSpPr/>
          <p:nvPr/>
        </p:nvSpPr>
        <p:spPr>
          <a:xfrm>
            <a:off x="9274810" y="4188206"/>
            <a:ext cx="2148840" cy="310896"/>
          </a:xfrm>
          <a:prstGeom prst="rect">
            <a:avLst/>
          </a:prstGeom>
          <a:noFill/>
        </p:spPr>
        <p:txBody>
          <a:bodyPr wrap="square" lIns="0" tIns="0" rIns="0" bIns="0" rtlCol="0" anchor="ctr"/>
          <a:lstStyle/>
          <a:p>
            <a:pPr marL="0" indent="0" algn="r">
              <a:buNone/>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15/08/2026 → 27/08/2026</a:t>
            </a:r>
            <a:endPar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27" name="Shape 25"/>
          <p:cNvSpPr/>
          <p:nvPr/>
        </p:nvSpPr>
        <p:spPr>
          <a:xfrm>
            <a:off x="768096" y="4572000"/>
            <a:ext cx="10655503" cy="0"/>
          </a:xfrm>
          <a:prstGeom prst="line">
            <a:avLst/>
          </a:prstGeom>
          <a:noFill/>
          <a:ln w="9525">
            <a:solidFill>
              <a:srgbClr val="DDE5F0"/>
            </a:solidFill>
            <a:prstDash val="solid"/>
          </a:ln>
        </p:spPr>
        <p:txBody>
          <a:bodyPr/>
          <a:lstStyle/>
          <a:p>
            <a:endParaRPr lang="en-US"/>
          </a:p>
        </p:txBody>
      </p:sp>
      <p:sp>
        <p:nvSpPr>
          <p:cNvPr id="28" name="Text 26"/>
          <p:cNvSpPr/>
          <p:nvPr/>
        </p:nvSpPr>
        <p:spPr>
          <a:xfrm>
            <a:off x="804672" y="4682490"/>
            <a:ext cx="2743200" cy="201168"/>
          </a:xfrm>
          <a:prstGeom prst="rect">
            <a:avLst/>
          </a:prstGeom>
          <a:noFill/>
        </p:spPr>
        <p:txBody>
          <a:bodyPr wrap="square" lIns="0" tIns="0" rIns="0" bIns="0" rtlCol="0" anchor="ctr"/>
          <a:lstStyle/>
          <a:p>
            <a:pPr marL="0" indent="0">
              <a:buNone/>
            </a:pPr>
            <a:r>
              <a:rPr lang="en-US" sz="1400" b="1" kern="0" spc="120" dirty="0">
                <a:solidFill>
                  <a:srgbClr val="8B99B5"/>
                </a:solidFill>
                <a:latin typeface="Calibri" panose="020F0502020204030204" pitchFamily="34" charset="0"/>
                <a:ea typeface="Calibri" panose="020F0502020204030204" pitchFamily="34" charset="-122"/>
                <a:cs typeface="Calibri" panose="020F0502020204030204" pitchFamily="34" charset="-120"/>
              </a:rPr>
              <a:t>VIỆC SẼ LÀM</a:t>
            </a:r>
            <a:endParaRPr lang="en-US" sz="1400" b="1" kern="0" spc="12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29" name="Text 27"/>
          <p:cNvSpPr/>
          <p:nvPr/>
        </p:nvSpPr>
        <p:spPr>
          <a:xfrm>
            <a:off x="859790" y="5007610"/>
            <a:ext cx="4927600" cy="563245"/>
          </a:xfrm>
          <a:prstGeom prst="rect">
            <a:avLst/>
          </a:prstGeom>
          <a:noFill/>
        </p:spPr>
        <p:txBody>
          <a:bodyPr wrap="square" lIns="0" tIns="0" rIns="0" bIns="0" rtlCol="0" anchor="t"/>
          <a:lstStyle/>
          <a:p>
            <a:pPr marL="152400" indent="-152400">
              <a:lnSpc>
                <a:spcPct val="106000"/>
              </a:lnSpc>
              <a:spcAft>
                <a:spcPts val="300"/>
              </a:spcAft>
              <a:buSzPct val="100000"/>
              <a:buChar char="•"/>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Chuẩn bị hạ tầng, tài khoản, phân quyền cho từng vai trò của Unis</a:t>
            </a:r>
            <a:endParaRPr lang="en-US" sz="1400" dirty="0"/>
          </a:p>
          <a:p>
            <a:pPr marL="152400" indent="-152400">
              <a:lnSpc>
                <a:spcPct val="106000"/>
              </a:lnSpc>
              <a:spcAft>
                <a:spcPts val="300"/>
              </a:spcAft>
              <a:buSzPct val="100000"/>
              <a:buChar char="•"/>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Kết nối hai chiều với Bravo: danh mục hàng hóa, khách hàng, số liệu kế toán</a:t>
            </a:r>
            <a:endParaRPr lang="en-US" sz="1400" dirty="0"/>
          </a:p>
          <a:p>
            <a:pPr marL="152400" indent="-152400">
              <a:lnSpc>
                <a:spcPct val="106000"/>
              </a:lnSpc>
              <a:spcAft>
                <a:spcPts val="300"/>
              </a:spcAft>
              <a:buSzPct val="100000"/>
              <a:buChar char="•"/>
            </a:pPr>
            <a:endPar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32" name="Shape 30"/>
          <p:cNvSpPr/>
          <p:nvPr/>
        </p:nvSpPr>
        <p:spPr>
          <a:xfrm>
            <a:off x="768096" y="5815584"/>
            <a:ext cx="10655503" cy="365760"/>
          </a:xfrm>
          <a:prstGeom prst="roundRect">
            <a:avLst>
              <a:gd name="adj" fmla="val 17500"/>
            </a:avLst>
          </a:prstGeom>
          <a:solidFill>
            <a:srgbClr val="FDF6DF"/>
          </a:solidFill>
          <a:ln w="12700">
            <a:solidFill>
              <a:srgbClr val="F0DFAA"/>
            </a:solidFill>
            <a:prstDash val="solid"/>
          </a:ln>
        </p:spPr>
        <p:txBody>
          <a:bodyPr/>
          <a:lstStyle/>
          <a:p>
            <a:endParaRPr lang="en-US" sz="2400"/>
          </a:p>
        </p:txBody>
      </p:sp>
      <p:sp>
        <p:nvSpPr>
          <p:cNvPr id="33" name="Text 31"/>
          <p:cNvSpPr/>
          <p:nvPr/>
        </p:nvSpPr>
        <p:spPr>
          <a:xfrm>
            <a:off x="932688" y="5815584"/>
            <a:ext cx="10362895" cy="365760"/>
          </a:xfrm>
          <a:prstGeom prst="rect">
            <a:avLst/>
          </a:prstGeom>
          <a:noFill/>
        </p:spPr>
        <p:txBody>
          <a:bodyPr wrap="square" lIns="0" tIns="0" rIns="0" bIns="0" rtlCol="0" anchor="ctr"/>
          <a:lstStyle/>
          <a:p>
            <a:pPr marL="0" indent="0">
              <a:buNone/>
            </a:pPr>
            <a:r>
              <a:rPr lang="en-US" sz="1400" b="1" dirty="0">
                <a:solidFill>
                  <a:srgbClr val="A16207"/>
                </a:solidFill>
                <a:latin typeface="Calibri" panose="020F0502020204030204" pitchFamily="34" charset="0"/>
                <a:ea typeface="Calibri" panose="020F0502020204030204" pitchFamily="34" charset="-122"/>
                <a:cs typeface="Calibri" panose="020F0502020204030204" pitchFamily="34" charset="-120"/>
              </a:rPr>
              <a:t>Điều kiện nghiệm thu:  </a:t>
            </a:r>
            <a:r>
              <a:rPr lang="en-US" sz="1400" dirty="0">
                <a:solidFill>
                  <a:srgbClr val="14213C"/>
                </a:solidFill>
                <a:latin typeface="Calibri" panose="020F0502020204030204" pitchFamily="34" charset="0"/>
                <a:ea typeface="Calibri" panose="020F0502020204030204" pitchFamily="34" charset="-122"/>
                <a:cs typeface="Calibri" panose="020F0502020204030204" pitchFamily="34" charset="-120"/>
              </a:rPr>
              <a:t>Đăng nhập được cả ba phân hệ · số liệu Bravo hiển thị đúng trên hệ thống mới.</a:t>
            </a:r>
            <a:endParaRPr lang="en-US" sz="1400" dirty="0">
              <a:solidFill>
                <a:srgbClr val="14213C"/>
              </a:solidFill>
              <a:latin typeface="Calibri" panose="020F0502020204030204" pitchFamily="34" charset="0"/>
              <a:ea typeface="Calibri" panose="020F0502020204030204" pitchFamily="34" charset="-122"/>
              <a:cs typeface="Calibri" panose="020F0502020204030204" pitchFamily="34" charset="-120"/>
            </a:endParaRPr>
          </a:p>
        </p:txBody>
      </p:sp>
      <p:sp>
        <p:nvSpPr>
          <p:cNvPr id="34" name="Text 32"/>
          <p:cNvSpPr/>
          <p:nvPr/>
        </p:nvSpPr>
        <p:spPr>
          <a:xfrm>
            <a:off x="548640" y="6419088"/>
            <a:ext cx="6858000" cy="256032"/>
          </a:xfrm>
          <a:prstGeom prst="rect">
            <a:avLst/>
          </a:prstGeom>
          <a:noFill/>
        </p:spPr>
        <p:txBody>
          <a:bodyPr wrap="square" lIns="0" tIns="0" rIns="0" bIns="0" rtlCol="0" anchor="ctr"/>
          <a:lstStyle/>
          <a:p>
            <a:pPr marL="0" indent="0">
              <a:buNone/>
            </a:pPr>
            <a:r>
              <a:rPr lang="en-US" sz="850" kern="0" spc="60" dirty="0">
                <a:solidFill>
                  <a:srgbClr val="8B99B5"/>
                </a:solidFill>
                <a:latin typeface="Calibri" panose="020F0502020204030204" pitchFamily="34" charset="0"/>
                <a:ea typeface="Calibri" panose="020F0502020204030204" pitchFamily="34" charset="-122"/>
                <a:cs typeface="Calibri" panose="020F0502020204030204" pitchFamily="34" charset="-120"/>
              </a:rPr>
              <a:t>SMARTLOG × UNIS  ·  TÀI LIỆU TRAO ĐỔI</a:t>
            </a:r>
            <a:endParaRPr lang="en-US" sz="850" kern="0" spc="6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35" name="Text 33"/>
          <p:cNvSpPr/>
          <p:nvPr/>
        </p:nvSpPr>
        <p:spPr>
          <a:xfrm>
            <a:off x="7528255" y="6419088"/>
            <a:ext cx="4114800" cy="256032"/>
          </a:xfrm>
          <a:prstGeom prst="rect">
            <a:avLst/>
          </a:prstGeom>
          <a:noFill/>
        </p:spPr>
        <p:txBody>
          <a:bodyPr wrap="square" lIns="0" tIns="0" rIns="0" bIns="0" rtlCol="0" anchor="ctr"/>
          <a:lstStyle/>
          <a:p>
            <a:pPr marL="0" indent="0" algn="r">
              <a:buNone/>
            </a:pPr>
            <a:r>
              <a:rPr lang="en-US" sz="850" kern="0" spc="60" dirty="0">
                <a:solidFill>
                  <a:srgbClr val="8B99B5"/>
                </a:solidFill>
                <a:latin typeface="Calibri" panose="020F0502020204030204" pitchFamily="34" charset="0"/>
                <a:ea typeface="Calibri" panose="020F0502020204030204" pitchFamily="34" charset="-122"/>
                <a:cs typeface="Calibri" panose="020F0502020204030204" pitchFamily="34" charset="-120"/>
              </a:rPr>
              <a:t>CÁC CHẶNG   09 / 17</a:t>
            </a:r>
            <a:endParaRPr lang="en-US" sz="850" kern="0" spc="6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36" name="Text 27"/>
          <p:cNvSpPr/>
          <p:nvPr/>
        </p:nvSpPr>
        <p:spPr>
          <a:xfrm>
            <a:off x="6450965" y="5013960"/>
            <a:ext cx="4879975" cy="563245"/>
          </a:xfrm>
          <a:prstGeom prst="rect">
            <a:avLst/>
          </a:prstGeom>
          <a:noFill/>
        </p:spPr>
        <p:txBody>
          <a:bodyPr wrap="square" lIns="0" tIns="0" rIns="0" bIns="0" rtlCol="0" anchor="t"/>
          <a:lstStyle/>
          <a:p>
            <a:pPr marL="152400" indent="-152400">
              <a:lnSpc>
                <a:spcPct val="106000"/>
              </a:lnSpc>
              <a:spcAft>
                <a:spcPts val="300"/>
              </a:spcAft>
              <a:buSzPct val="100000"/>
              <a:buChar char="•"/>
            </a:pPr>
            <a:r>
              <a:rPr lang="en-US" alt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Đ</a:t>
            </a:r>
            <a:r>
              <a:rPr lang="en-US" altLang="en-GB"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ổ danh mục kho, tuyến, </a:t>
            </a:r>
            <a:r>
              <a:rPr lang="en-US" alt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đ</a:t>
            </a:r>
            <a:r>
              <a:rPr lang="en-US" altLang="en-GB"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ội xe, bảng gi</a:t>
            </a:r>
            <a:r>
              <a:rPr lang="en-US" alt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á</a:t>
            </a:r>
            <a:r>
              <a:rPr lang="en-US" altLang="en-GB"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c</a:t>
            </a:r>
            <a:r>
              <a:rPr lang="en-US" alt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ư</a:t>
            </a:r>
            <a:r>
              <a:rPr lang="en-US" altLang="en-GB"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ớc vào hệ thống</a:t>
            </a:r>
            <a:endParaRPr lang="en-US" altLang="en-GB"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a:p>
            <a:pPr marL="152400" indent="-152400">
              <a:lnSpc>
                <a:spcPct val="106000"/>
              </a:lnSpc>
              <a:spcAft>
                <a:spcPts val="300"/>
              </a:spcAft>
              <a:buSzPct val="100000"/>
              <a:buChar char="•"/>
            </a:pPr>
            <a:r>
              <a:rPr lang="en-US" altLang="en-GB"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Khung của cả ba ph</a:t>
            </a:r>
            <a:r>
              <a:rPr lang="en-US" alt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â</a:t>
            </a:r>
            <a:r>
              <a:rPr lang="en-US" altLang="en-GB"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n hệ hiện h</a:t>
            </a:r>
            <a:r>
              <a:rPr lang="en-US" alt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ì</a:t>
            </a:r>
            <a:r>
              <a:rPr lang="en-US" altLang="en-GB"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nh </a:t>
            </a:r>
            <a:r>
              <a:rPr lang="en-US" alt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đ</a:t>
            </a:r>
            <a:r>
              <a:rPr lang="en-US" altLang="en-GB"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ể Unis xem tr</a:t>
            </a:r>
            <a:r>
              <a:rPr lang="en-US" alt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ư</a:t>
            </a:r>
            <a:r>
              <a:rPr lang="en-US" altLang="en-GB"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ớc</a:t>
            </a:r>
            <a:endParaRPr lang="en-US" altLang="en-GB"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a:p>
            <a:pPr indent="0">
              <a:lnSpc>
                <a:spcPct val="106000"/>
              </a:lnSpc>
              <a:spcAft>
                <a:spcPts val="300"/>
              </a:spcAft>
              <a:buSzPct val="100000"/>
              <a:buNone/>
            </a:pPr>
            <a:endParaRPr lang="en-US" altLang="en-GB"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02336"/>
            <a:ext cx="137160" cy="137160"/>
          </a:xfrm>
          <a:prstGeom prst="roundRect">
            <a:avLst>
              <a:gd name="adj" fmla="val 23333"/>
            </a:avLst>
          </a:prstGeom>
          <a:solidFill>
            <a:srgbClr val="EAB308"/>
          </a:solidFill>
          <a:ln w="12700">
            <a:solidFill>
              <a:srgbClr val="EAB308"/>
            </a:solidFill>
            <a:prstDash val="solid"/>
          </a:ln>
        </p:spPr>
        <p:txBody>
          <a:bodyPr/>
          <a:lstStyle/>
          <a:p>
            <a:endParaRPr lang="en-US"/>
          </a:p>
        </p:txBody>
      </p:sp>
      <p:sp>
        <p:nvSpPr>
          <p:cNvPr id="3" name="Text 1"/>
          <p:cNvSpPr/>
          <p:nvPr/>
        </p:nvSpPr>
        <p:spPr>
          <a:xfrm>
            <a:off x="786384" y="329184"/>
            <a:ext cx="10820095" cy="274320"/>
          </a:xfrm>
          <a:prstGeom prst="rect">
            <a:avLst/>
          </a:prstGeom>
          <a:noFill/>
        </p:spPr>
        <p:txBody>
          <a:bodyPr wrap="square" lIns="0" tIns="0" rIns="0" bIns="0" rtlCol="0" anchor="ctr"/>
          <a:lstStyle/>
          <a:p>
            <a:pPr marL="0" indent="0">
              <a:buNone/>
            </a:pPr>
            <a:r>
              <a:rPr lang="en-US" sz="1400" b="1" kern="0" spc="160" dirty="0">
                <a:solidFill>
                  <a:srgbClr val="A16207"/>
                </a:solidFill>
                <a:latin typeface="Calibri" panose="020F0502020204030204" pitchFamily="34" charset="0"/>
                <a:ea typeface="Calibri" panose="020F0502020204030204" pitchFamily="34" charset="-122"/>
                <a:cs typeface="Calibri" panose="020F0502020204030204" pitchFamily="34" charset="-120"/>
              </a:rPr>
              <a:t>05 · CHI TIẾT CÁC CHẶNG (2/3)</a:t>
            </a:r>
            <a:endParaRPr lang="en-US" sz="1400" b="1" kern="0" spc="160" dirty="0">
              <a:solidFill>
                <a:srgbClr val="A16207"/>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48640" y="640080"/>
            <a:ext cx="10607040" cy="502920"/>
          </a:xfrm>
          <a:prstGeom prst="rect">
            <a:avLst/>
          </a:prstGeom>
          <a:noFill/>
        </p:spPr>
        <p:txBody>
          <a:bodyPr wrap="square" lIns="0" tIns="0" rIns="0" bIns="0" rtlCol="0" anchor="t"/>
          <a:lstStyle/>
          <a:p>
            <a:pPr marL="0" indent="0">
              <a:buNone/>
            </a:pPr>
            <a:r>
              <a:rPr lang="en-US" sz="2500" b="1" dirty="0">
                <a:solidFill>
                  <a:srgbClr val="0F2A5C"/>
                </a:solidFill>
                <a:latin typeface="Calibri" panose="020F0502020204030204" pitchFamily="34" charset="0"/>
                <a:ea typeface="Calibri" panose="020F0502020204030204" pitchFamily="34" charset="-122"/>
                <a:cs typeface="Calibri" panose="020F0502020204030204" pitchFamily="34" charset="-120"/>
              </a:rPr>
              <a:t>Dựng ba phân hệ và bàn giao bản dùng thử</a:t>
            </a:r>
            <a:endParaRPr lang="en-US" sz="2500" b="1" dirty="0">
              <a:solidFill>
                <a:srgbClr val="0F2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5" name="Shape 3"/>
          <p:cNvSpPr/>
          <p:nvPr/>
        </p:nvSpPr>
        <p:spPr>
          <a:xfrm>
            <a:off x="548640" y="1334770"/>
            <a:ext cx="11094720" cy="2583815"/>
          </a:xfrm>
          <a:prstGeom prst="roundRect">
            <a:avLst>
              <a:gd name="adj" fmla="val 3529"/>
            </a:avLst>
          </a:prstGeom>
          <a:solidFill>
            <a:srgbClr val="FFFFFF"/>
          </a:solidFill>
          <a:ln w="12700">
            <a:solidFill>
              <a:srgbClr val="DDE5F0"/>
            </a:solidFill>
            <a:prstDash val="solid"/>
          </a:ln>
          <a:effectLst>
            <a:outerShdw blurRad="114300" dist="17780" dir="5400000" algn="bl" rotWithShape="0">
              <a:srgbClr val="0F2A5C">
                <a:alpha val="9000"/>
              </a:srgbClr>
            </a:outerShdw>
          </a:effectLst>
        </p:spPr>
        <p:txBody>
          <a:bodyPr/>
          <a:lstStyle/>
          <a:p>
            <a:endParaRPr lang="en-US" sz="2400"/>
          </a:p>
        </p:txBody>
      </p:sp>
      <p:sp>
        <p:nvSpPr>
          <p:cNvPr id="6" name="Shape 4"/>
          <p:cNvSpPr/>
          <p:nvPr/>
        </p:nvSpPr>
        <p:spPr>
          <a:xfrm>
            <a:off x="768096" y="1481328"/>
            <a:ext cx="457200" cy="256032"/>
          </a:xfrm>
          <a:prstGeom prst="roundRect">
            <a:avLst>
              <a:gd name="adj" fmla="val 21429"/>
            </a:avLst>
          </a:prstGeom>
          <a:solidFill>
            <a:srgbClr val="2563EB"/>
          </a:solidFill>
          <a:ln w="12700">
            <a:solidFill>
              <a:srgbClr val="333333"/>
            </a:solidFill>
            <a:prstDash val="solid"/>
          </a:ln>
        </p:spPr>
        <p:txBody>
          <a:bodyPr/>
          <a:lstStyle/>
          <a:p>
            <a:endParaRPr lang="en-US" sz="2400"/>
          </a:p>
        </p:txBody>
      </p:sp>
      <p:sp>
        <p:nvSpPr>
          <p:cNvPr id="7" name="Text 5"/>
          <p:cNvSpPr/>
          <p:nvPr/>
        </p:nvSpPr>
        <p:spPr>
          <a:xfrm>
            <a:off x="768096" y="1481328"/>
            <a:ext cx="457200" cy="256032"/>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C2</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Text 6"/>
          <p:cNvSpPr/>
          <p:nvPr/>
        </p:nvSpPr>
        <p:spPr>
          <a:xfrm>
            <a:off x="1316736" y="1453896"/>
            <a:ext cx="6949440" cy="310896"/>
          </a:xfrm>
          <a:prstGeom prst="rect">
            <a:avLst/>
          </a:prstGeom>
          <a:noFill/>
        </p:spPr>
        <p:txBody>
          <a:bodyPr wrap="square" lIns="0" tIns="0" rIns="0" bIns="0" rtlCol="0" anchor="ctr"/>
          <a:lstStyle/>
          <a:p>
            <a:pPr marL="0" indent="0">
              <a:buNone/>
            </a:pPr>
            <a:r>
              <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rPr>
              <a:t>Tuần 3–5 — dựng ba phân hệ theo checklist đã chốt</a:t>
            </a:r>
            <a:endPar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Text 7"/>
          <p:cNvSpPr/>
          <p:nvPr/>
        </p:nvSpPr>
        <p:spPr>
          <a:xfrm>
            <a:off x="9263380" y="1453896"/>
            <a:ext cx="2148840" cy="310896"/>
          </a:xfrm>
          <a:prstGeom prst="rect">
            <a:avLst/>
          </a:prstGeom>
          <a:noFill/>
        </p:spPr>
        <p:txBody>
          <a:bodyPr wrap="square" lIns="0" tIns="0" rIns="0" bIns="0" rtlCol="0" anchor="ctr"/>
          <a:lstStyle/>
          <a:p>
            <a:pPr marL="0" indent="0" algn="r">
              <a:buNone/>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27/08/2026 → 27/09/2026</a:t>
            </a:r>
            <a:endPar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Shape 10"/>
          <p:cNvSpPr/>
          <p:nvPr/>
        </p:nvSpPr>
        <p:spPr>
          <a:xfrm>
            <a:off x="768096" y="1828800"/>
            <a:ext cx="10655503" cy="0"/>
          </a:xfrm>
          <a:prstGeom prst="line">
            <a:avLst/>
          </a:prstGeom>
          <a:noFill/>
          <a:ln w="9525">
            <a:solidFill>
              <a:srgbClr val="DDE5F0"/>
            </a:solidFill>
            <a:prstDash val="solid"/>
          </a:ln>
        </p:spPr>
        <p:txBody>
          <a:bodyPr/>
          <a:lstStyle/>
          <a:p>
            <a:endParaRPr lang="en-US"/>
          </a:p>
        </p:txBody>
      </p:sp>
      <p:sp>
        <p:nvSpPr>
          <p:cNvPr id="13" name="Text 11"/>
          <p:cNvSpPr/>
          <p:nvPr/>
        </p:nvSpPr>
        <p:spPr>
          <a:xfrm>
            <a:off x="804672" y="1920240"/>
            <a:ext cx="2743200" cy="201168"/>
          </a:xfrm>
          <a:prstGeom prst="rect">
            <a:avLst/>
          </a:prstGeom>
          <a:noFill/>
        </p:spPr>
        <p:txBody>
          <a:bodyPr wrap="square" lIns="0" tIns="0" rIns="0" bIns="0" rtlCol="0" anchor="ctr"/>
          <a:lstStyle/>
          <a:p>
            <a:pPr marL="0" indent="0">
              <a:buNone/>
            </a:pPr>
            <a:r>
              <a:rPr lang="en-US" sz="1400" b="1" kern="0" spc="120" dirty="0">
                <a:solidFill>
                  <a:srgbClr val="8B99B5"/>
                </a:solidFill>
                <a:latin typeface="Calibri" panose="020F0502020204030204" pitchFamily="34" charset="0"/>
                <a:ea typeface="Calibri" panose="020F0502020204030204" pitchFamily="34" charset="-122"/>
                <a:cs typeface="Calibri" panose="020F0502020204030204" pitchFamily="34" charset="-120"/>
              </a:rPr>
              <a:t>VIỆC SẼ LÀM</a:t>
            </a:r>
            <a:endParaRPr lang="en-US" sz="1400" b="1" kern="0" spc="12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Text 12"/>
          <p:cNvSpPr/>
          <p:nvPr/>
        </p:nvSpPr>
        <p:spPr>
          <a:xfrm>
            <a:off x="859790" y="2169160"/>
            <a:ext cx="5318760" cy="1014730"/>
          </a:xfrm>
          <a:prstGeom prst="rect">
            <a:avLst/>
          </a:prstGeom>
          <a:noFill/>
        </p:spPr>
        <p:txBody>
          <a:bodyPr wrap="square" lIns="0" tIns="0" rIns="0" bIns="0" rtlCol="0" anchor="t"/>
          <a:lstStyle/>
          <a:p>
            <a:pPr marL="152400" indent="-152400">
              <a:lnSpc>
                <a:spcPct val="106000"/>
              </a:lnSpc>
              <a:spcAft>
                <a:spcPts val="300"/>
              </a:spcAft>
              <a:buSzPct val="100000"/>
              <a:buChar char="•"/>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Kho: nhập – xuất – kiểm kê – tồn theo thời gian thực, dùng máy quét mã vạch</a:t>
            </a:r>
            <a:endParaRPr lang="en-US" sz="1400" dirty="0"/>
          </a:p>
          <a:p>
            <a:pPr marL="152400" indent="-152400">
              <a:lnSpc>
                <a:spcPct val="106000"/>
              </a:lnSpc>
              <a:spcAft>
                <a:spcPts val="300"/>
              </a:spcAft>
              <a:buSzPct val="100000"/>
              <a:buChar char="•"/>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Vận chuyển: điều phối + gán chuyến, app tài xế, theo dõi GPS</a:t>
            </a:r>
            <a:endParaRPr lang="en-US" sz="1400" dirty="0"/>
          </a:p>
          <a:p>
            <a:pPr marL="152400" indent="-152400">
              <a:lnSpc>
                <a:spcPct val="106000"/>
              </a:lnSpc>
              <a:spcAft>
                <a:spcPts val="300"/>
              </a:spcAft>
              <a:buSzPct val="100000"/>
              <a:buChar char="•"/>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Đơn hàng: màn hình duyệt đơn + app/cổng đặt hàng cho khách</a:t>
            </a:r>
            <a:endParaRPr lang="en-US" sz="1400" dirty="0"/>
          </a:p>
          <a:p>
            <a:pPr marL="152400" indent="-152400">
              <a:lnSpc>
                <a:spcPct val="106000"/>
              </a:lnSpc>
              <a:spcAft>
                <a:spcPts val="300"/>
              </a:spcAft>
              <a:buSzPct val="100000"/>
              <a:buChar char="•"/>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Ba nhóm làm song song — mỗi 2 tuần một buổi xem tiến độ cùng Unis</a:t>
            </a:r>
            <a:endPar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Text 13"/>
          <p:cNvSpPr/>
          <p:nvPr/>
        </p:nvSpPr>
        <p:spPr>
          <a:xfrm>
            <a:off x="6693408" y="1920240"/>
            <a:ext cx="3657600" cy="201168"/>
          </a:xfrm>
          <a:prstGeom prst="rect">
            <a:avLst/>
          </a:prstGeom>
          <a:noFill/>
        </p:spPr>
        <p:txBody>
          <a:bodyPr wrap="square" lIns="0" tIns="0" rIns="0" bIns="0" rtlCol="0" anchor="ctr"/>
          <a:lstStyle/>
          <a:p>
            <a:pPr marL="0" indent="0">
              <a:buNone/>
            </a:pPr>
            <a:r>
              <a:rPr lang="en-US" sz="1400" b="1" kern="0" spc="120" dirty="0">
                <a:solidFill>
                  <a:srgbClr val="8B99B5"/>
                </a:solidFill>
                <a:latin typeface="Calibri" panose="020F0502020204030204" pitchFamily="34" charset="0"/>
                <a:ea typeface="Calibri" panose="020F0502020204030204" pitchFamily="34" charset="-122"/>
                <a:cs typeface="Calibri" panose="020F0502020204030204" pitchFamily="34" charset="-120"/>
              </a:rPr>
              <a:t>CÁCH GIỮ TIẾN ĐỘ</a:t>
            </a:r>
            <a:endParaRPr lang="en-US" sz="1400" b="1" kern="0" spc="12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4"/>
          <p:cNvSpPr/>
          <p:nvPr/>
        </p:nvSpPr>
        <p:spPr>
          <a:xfrm>
            <a:off x="6748272" y="2169033"/>
            <a:ext cx="4663440" cy="1014984"/>
          </a:xfrm>
          <a:prstGeom prst="rect">
            <a:avLst/>
          </a:prstGeom>
          <a:noFill/>
        </p:spPr>
        <p:txBody>
          <a:bodyPr wrap="square" lIns="0" tIns="0" rIns="0" bIns="0" rtlCol="0" anchor="t"/>
          <a:lstStyle/>
          <a:p>
            <a:pPr marL="152400" indent="-152400">
              <a:lnSpc>
                <a:spcPct val="106000"/>
              </a:lnSpc>
              <a:spcAft>
                <a:spcPts val="300"/>
              </a:spcAft>
              <a:buSzPct val="100000"/>
              <a:buChar char="•"/>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Làm song song để giữ lịch 7 tuần — điều kiện là phạm vi đã chốt cứng ở chặng trước</a:t>
            </a:r>
            <a:endParaRPr lang="en-US" sz="1400" dirty="0"/>
          </a:p>
          <a:p>
            <a:pPr marL="152400" indent="-152400">
              <a:lnSpc>
                <a:spcPct val="106000"/>
              </a:lnSpc>
              <a:spcAft>
                <a:spcPts val="300"/>
              </a:spcAft>
              <a:buSzPct val="100000"/>
              <a:buChar char="•"/>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Buổi xem tiến độ 2 tuần/lần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để</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nắm</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hướng sớm, không đợi đến cuối mới góp ý</a:t>
            </a:r>
            <a:endPar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Shape 15"/>
          <p:cNvSpPr/>
          <p:nvPr/>
        </p:nvSpPr>
        <p:spPr>
          <a:xfrm>
            <a:off x="768096" y="3467481"/>
            <a:ext cx="10655503" cy="365760"/>
          </a:xfrm>
          <a:prstGeom prst="roundRect">
            <a:avLst>
              <a:gd name="adj" fmla="val 17500"/>
            </a:avLst>
          </a:prstGeom>
          <a:solidFill>
            <a:srgbClr val="FDF6DF"/>
          </a:solidFill>
          <a:ln w="12700">
            <a:solidFill>
              <a:srgbClr val="F0DFAA"/>
            </a:solidFill>
            <a:prstDash val="solid"/>
          </a:ln>
        </p:spPr>
        <p:txBody>
          <a:bodyPr/>
          <a:lstStyle/>
          <a:p>
            <a:endParaRPr lang="en-US" sz="2400"/>
          </a:p>
        </p:txBody>
      </p:sp>
      <p:sp>
        <p:nvSpPr>
          <p:cNvPr id="18" name="Text 16"/>
          <p:cNvSpPr/>
          <p:nvPr/>
        </p:nvSpPr>
        <p:spPr>
          <a:xfrm>
            <a:off x="932688" y="3477006"/>
            <a:ext cx="10362895" cy="365760"/>
          </a:xfrm>
          <a:prstGeom prst="rect">
            <a:avLst/>
          </a:prstGeom>
          <a:noFill/>
        </p:spPr>
        <p:txBody>
          <a:bodyPr wrap="square" lIns="0" tIns="0" rIns="0" bIns="0" rtlCol="0" anchor="ctr"/>
          <a:lstStyle/>
          <a:p>
            <a:pPr marL="0" indent="0">
              <a:buNone/>
            </a:pPr>
            <a:r>
              <a:rPr lang="en-US" sz="1400" b="1" dirty="0">
                <a:solidFill>
                  <a:srgbClr val="A16207"/>
                </a:solidFill>
                <a:latin typeface="Calibri" panose="020F0502020204030204" pitchFamily="34" charset="0"/>
                <a:ea typeface="Calibri" panose="020F0502020204030204" pitchFamily="34" charset="-122"/>
                <a:cs typeface="Calibri" panose="020F0502020204030204" pitchFamily="34" charset="-120"/>
              </a:rPr>
              <a:t>Điều kiện nghiệm thu:  </a:t>
            </a:r>
            <a:r>
              <a:rPr lang="en-US" sz="1400" dirty="0">
                <a:solidFill>
                  <a:srgbClr val="14213C"/>
                </a:solidFill>
                <a:latin typeface="Calibri" panose="020F0502020204030204" pitchFamily="34" charset="0"/>
                <a:ea typeface="Calibri" panose="020F0502020204030204" pitchFamily="34" charset="-122"/>
                <a:cs typeface="Calibri" panose="020F0502020204030204" pitchFamily="34" charset="-120"/>
              </a:rPr>
              <a:t>Cả ba hệ thốngchạy được trọn một vòng: đặt đơn → xuất kho → giao → ký nhận, trên dữ liệu thật.</a:t>
            </a:r>
            <a:endParaRPr lang="en-US" sz="1400" dirty="0">
              <a:solidFill>
                <a:srgbClr val="14213C"/>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Shape 17"/>
          <p:cNvSpPr/>
          <p:nvPr/>
        </p:nvSpPr>
        <p:spPr>
          <a:xfrm>
            <a:off x="548640" y="3992245"/>
            <a:ext cx="11094720" cy="2378710"/>
          </a:xfrm>
          <a:prstGeom prst="roundRect">
            <a:avLst>
              <a:gd name="adj" fmla="val 3830"/>
            </a:avLst>
          </a:prstGeom>
          <a:solidFill>
            <a:srgbClr val="FFFFFF"/>
          </a:solidFill>
          <a:ln w="12700">
            <a:solidFill>
              <a:srgbClr val="DDE5F0"/>
            </a:solidFill>
            <a:prstDash val="solid"/>
          </a:ln>
          <a:effectLst>
            <a:outerShdw blurRad="114300" dist="17780" dir="5400000" algn="bl" rotWithShape="0">
              <a:srgbClr val="0F2A5C">
                <a:alpha val="9000"/>
              </a:srgbClr>
            </a:outerShdw>
          </a:effectLst>
        </p:spPr>
        <p:txBody>
          <a:bodyPr/>
          <a:lstStyle/>
          <a:p>
            <a:endParaRPr lang="en-US" sz="2400"/>
          </a:p>
        </p:txBody>
      </p:sp>
      <p:sp>
        <p:nvSpPr>
          <p:cNvPr id="20" name="Shape 18"/>
          <p:cNvSpPr/>
          <p:nvPr/>
        </p:nvSpPr>
        <p:spPr>
          <a:xfrm>
            <a:off x="768096" y="4138803"/>
            <a:ext cx="457200" cy="256032"/>
          </a:xfrm>
          <a:prstGeom prst="roundRect">
            <a:avLst>
              <a:gd name="adj" fmla="val 21429"/>
            </a:avLst>
          </a:prstGeom>
          <a:solidFill>
            <a:srgbClr val="2563EB"/>
          </a:solidFill>
          <a:ln w="12700">
            <a:solidFill>
              <a:srgbClr val="333333"/>
            </a:solidFill>
            <a:prstDash val="solid"/>
          </a:ln>
        </p:spPr>
        <p:txBody>
          <a:bodyPr/>
          <a:lstStyle/>
          <a:p>
            <a:endParaRPr lang="en-US" sz="2400"/>
          </a:p>
        </p:txBody>
      </p:sp>
      <p:sp>
        <p:nvSpPr>
          <p:cNvPr id="21" name="Text 19"/>
          <p:cNvSpPr/>
          <p:nvPr/>
        </p:nvSpPr>
        <p:spPr>
          <a:xfrm>
            <a:off x="768096" y="4138803"/>
            <a:ext cx="457200" cy="256032"/>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C3</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2" name="Text 20"/>
          <p:cNvSpPr/>
          <p:nvPr/>
        </p:nvSpPr>
        <p:spPr>
          <a:xfrm>
            <a:off x="1316736" y="4111371"/>
            <a:ext cx="6949440" cy="310896"/>
          </a:xfrm>
          <a:prstGeom prst="rect">
            <a:avLst/>
          </a:prstGeom>
          <a:noFill/>
        </p:spPr>
        <p:txBody>
          <a:bodyPr wrap="square" lIns="0" tIns="0" rIns="0" bIns="0" rtlCol="0" anchor="ctr"/>
          <a:lstStyle/>
          <a:p>
            <a:pPr marL="0" indent="0">
              <a:buNone/>
            </a:pPr>
            <a:r>
              <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rPr>
              <a:t>Tuần 6–7 — chạy thử nội bộ Smartlog</a:t>
            </a:r>
            <a:endPar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Text 21"/>
          <p:cNvSpPr/>
          <p:nvPr/>
        </p:nvSpPr>
        <p:spPr>
          <a:xfrm>
            <a:off x="9263380" y="4111371"/>
            <a:ext cx="2148840" cy="310896"/>
          </a:xfrm>
          <a:prstGeom prst="rect">
            <a:avLst/>
          </a:prstGeom>
          <a:noFill/>
        </p:spPr>
        <p:txBody>
          <a:bodyPr wrap="square" lIns="0" tIns="0" rIns="0" bIns="0" rtlCol="0" anchor="ctr"/>
          <a:lstStyle/>
          <a:p>
            <a:pPr marL="0" indent="0" algn="r">
              <a:buNone/>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27/09/2026 → 05/10/2026</a:t>
            </a:r>
            <a:endPar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26" name="Shape 24"/>
          <p:cNvSpPr/>
          <p:nvPr/>
        </p:nvSpPr>
        <p:spPr>
          <a:xfrm>
            <a:off x="768096" y="4486275"/>
            <a:ext cx="10655503" cy="0"/>
          </a:xfrm>
          <a:prstGeom prst="line">
            <a:avLst/>
          </a:prstGeom>
          <a:noFill/>
          <a:ln w="9525">
            <a:solidFill>
              <a:srgbClr val="DDE5F0"/>
            </a:solidFill>
            <a:prstDash val="solid"/>
          </a:ln>
        </p:spPr>
        <p:txBody>
          <a:bodyPr/>
          <a:lstStyle/>
          <a:p>
            <a:endParaRPr lang="en-US"/>
          </a:p>
        </p:txBody>
      </p:sp>
      <p:sp>
        <p:nvSpPr>
          <p:cNvPr id="27" name="Text 25"/>
          <p:cNvSpPr/>
          <p:nvPr/>
        </p:nvSpPr>
        <p:spPr>
          <a:xfrm>
            <a:off x="804672" y="4577715"/>
            <a:ext cx="2743200" cy="201168"/>
          </a:xfrm>
          <a:prstGeom prst="rect">
            <a:avLst/>
          </a:prstGeom>
          <a:noFill/>
        </p:spPr>
        <p:txBody>
          <a:bodyPr wrap="square" lIns="0" tIns="0" rIns="0" bIns="0" rtlCol="0" anchor="ctr"/>
          <a:lstStyle/>
          <a:p>
            <a:pPr marL="0" indent="0">
              <a:buNone/>
            </a:pPr>
            <a:r>
              <a:rPr lang="en-US" sz="1400" b="1" kern="0" spc="120" dirty="0">
                <a:solidFill>
                  <a:srgbClr val="8B99B5"/>
                </a:solidFill>
                <a:latin typeface="Calibri" panose="020F0502020204030204" pitchFamily="34" charset="0"/>
                <a:ea typeface="Calibri" panose="020F0502020204030204" pitchFamily="34" charset="-122"/>
                <a:cs typeface="Calibri" panose="020F0502020204030204" pitchFamily="34" charset="-120"/>
              </a:rPr>
              <a:t>VIỆC SẼ LÀM</a:t>
            </a:r>
            <a:endParaRPr lang="en-US" sz="1400" b="1" kern="0" spc="12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28" name="Text 26"/>
          <p:cNvSpPr/>
          <p:nvPr/>
        </p:nvSpPr>
        <p:spPr>
          <a:xfrm>
            <a:off x="859536" y="4864608"/>
            <a:ext cx="5577840" cy="832104"/>
          </a:xfrm>
          <a:prstGeom prst="rect">
            <a:avLst/>
          </a:prstGeom>
          <a:noFill/>
        </p:spPr>
        <p:txBody>
          <a:bodyPr wrap="square" lIns="0" tIns="0" rIns="0" bIns="0" rtlCol="0" anchor="t"/>
          <a:lstStyle/>
          <a:p>
            <a:pPr marL="152400" indent="-152400">
              <a:lnSpc>
                <a:spcPct val="106000"/>
              </a:lnSpc>
              <a:spcAft>
                <a:spcPts val="300"/>
              </a:spcAft>
              <a:buSzPct val="100000"/>
              <a:buChar char="•"/>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Chạy thử trọn vòng nhiều lần, sửa các lỗi chặn việc</a:t>
            </a:r>
            <a:endParaRPr lang="en-US" sz="1400" dirty="0"/>
          </a:p>
          <a:p>
            <a:pPr marL="152400" indent="-152400">
              <a:lnSpc>
                <a:spcPct val="106000"/>
              </a:lnSpc>
              <a:spcAft>
                <a:spcPts val="300"/>
              </a:spcAft>
              <a:buSzPct val="100000"/>
              <a:buChar char="•"/>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Tạo tài khoản cho người dùng thật của Unis, chuẩn bị dữ liệu thí điểm</a:t>
            </a:r>
            <a:endParaRPr lang="en-US" sz="1400" dirty="0"/>
          </a:p>
          <a:p>
            <a:pPr marL="152400" indent="-152400">
              <a:lnSpc>
                <a:spcPct val="106000"/>
              </a:lnSpc>
              <a:spcAft>
                <a:spcPts val="300"/>
              </a:spcAft>
              <a:buSzPct val="100000"/>
              <a:buChar char="•"/>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Bàn giao bản dùng thử — demo trực tiếp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trước</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quý</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khách</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bằng chính đơn hàng của Unis</a:t>
            </a:r>
            <a:endPar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29" name="Text 27"/>
          <p:cNvSpPr/>
          <p:nvPr/>
        </p:nvSpPr>
        <p:spPr>
          <a:xfrm>
            <a:off x="6693408" y="4577715"/>
            <a:ext cx="3657600" cy="201168"/>
          </a:xfrm>
          <a:prstGeom prst="rect">
            <a:avLst/>
          </a:prstGeom>
          <a:noFill/>
        </p:spPr>
        <p:txBody>
          <a:bodyPr wrap="square" lIns="0" tIns="0" rIns="0" bIns="0" rtlCol="0" anchor="ctr"/>
          <a:lstStyle/>
          <a:p>
            <a:pPr marL="0" indent="0">
              <a:buNone/>
            </a:pPr>
            <a:r>
              <a:rPr lang="en-US" sz="1400" b="1" kern="0" spc="120" dirty="0">
                <a:solidFill>
                  <a:srgbClr val="8B99B5"/>
                </a:solidFill>
                <a:latin typeface="Calibri" panose="020F0502020204030204" pitchFamily="34" charset="0"/>
                <a:ea typeface="Calibri" panose="020F0502020204030204" pitchFamily="34" charset="-122"/>
                <a:cs typeface="Calibri" panose="020F0502020204030204" pitchFamily="34" charset="-120"/>
              </a:rPr>
              <a:t>QUAN ĐIỂM CỦA CHÚNG TÔI</a:t>
            </a:r>
            <a:endParaRPr lang="en-US" sz="1400" b="1" kern="0" spc="12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30" name="Text 28"/>
          <p:cNvSpPr/>
          <p:nvPr/>
        </p:nvSpPr>
        <p:spPr>
          <a:xfrm>
            <a:off x="6748272" y="4855083"/>
            <a:ext cx="4663440" cy="832104"/>
          </a:xfrm>
          <a:prstGeom prst="rect">
            <a:avLst/>
          </a:prstGeom>
          <a:noFill/>
        </p:spPr>
        <p:txBody>
          <a:bodyPr wrap="square" lIns="0" tIns="0" rIns="0" bIns="0" rtlCol="0" anchor="t"/>
          <a:lstStyle/>
          <a:p>
            <a:pPr marL="152400" indent="-152400">
              <a:lnSpc>
                <a:spcPct val="106000"/>
              </a:lnSpc>
              <a:spcAft>
                <a:spcPts val="300"/>
              </a:spcAft>
              <a:buSzPct val="100000"/>
              <a:buChar char="•"/>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Bàn giao đúng hạn quan trọng hơn bàn giao thật đầy đủ — phần chưa hoàn thiện sẽ chỉnh trong giai đoạn đồng hành, còn niềm tin thì phải giữ từ buổi đầu</a:t>
            </a:r>
            <a:endPar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31" name="Shape 29"/>
          <p:cNvSpPr/>
          <p:nvPr/>
        </p:nvSpPr>
        <p:spPr>
          <a:xfrm>
            <a:off x="768096" y="5913501"/>
            <a:ext cx="10655503" cy="365760"/>
          </a:xfrm>
          <a:prstGeom prst="roundRect">
            <a:avLst>
              <a:gd name="adj" fmla="val 17500"/>
            </a:avLst>
          </a:prstGeom>
          <a:solidFill>
            <a:srgbClr val="FDF6DF"/>
          </a:solidFill>
          <a:ln w="12700">
            <a:solidFill>
              <a:srgbClr val="F0DFAA"/>
            </a:solidFill>
            <a:prstDash val="solid"/>
          </a:ln>
        </p:spPr>
        <p:txBody>
          <a:bodyPr/>
          <a:lstStyle/>
          <a:p>
            <a:endParaRPr lang="en-US" sz="2400"/>
          </a:p>
        </p:txBody>
      </p:sp>
      <p:sp>
        <p:nvSpPr>
          <p:cNvPr id="32" name="Text 30"/>
          <p:cNvSpPr/>
          <p:nvPr/>
        </p:nvSpPr>
        <p:spPr>
          <a:xfrm>
            <a:off x="932688" y="5913501"/>
            <a:ext cx="10362895" cy="365760"/>
          </a:xfrm>
          <a:prstGeom prst="rect">
            <a:avLst/>
          </a:prstGeom>
          <a:noFill/>
        </p:spPr>
        <p:txBody>
          <a:bodyPr wrap="square" lIns="0" tIns="0" rIns="0" bIns="0" rtlCol="0" anchor="ctr"/>
          <a:lstStyle/>
          <a:p>
            <a:pPr marL="0" indent="0">
              <a:buNone/>
            </a:pPr>
            <a:r>
              <a:rPr lang="en-US" sz="1400" b="1" dirty="0">
                <a:solidFill>
                  <a:srgbClr val="A16207"/>
                </a:solidFill>
                <a:latin typeface="Calibri" panose="020F0502020204030204" pitchFamily="34" charset="0"/>
                <a:ea typeface="Calibri" panose="020F0502020204030204" pitchFamily="34" charset="-122"/>
                <a:cs typeface="Calibri" panose="020F0502020204030204" pitchFamily="34" charset="-120"/>
              </a:rPr>
              <a:t>Điều kiện nghiệm thu:  </a:t>
            </a:r>
            <a:r>
              <a:rPr lang="en-US" sz="1400" dirty="0">
                <a:solidFill>
                  <a:srgbClr val="14213C"/>
                </a:solidFill>
                <a:latin typeface="Calibri" panose="020F0502020204030204" pitchFamily="34" charset="0"/>
                <a:ea typeface="Calibri" panose="020F0502020204030204" pitchFamily="34" charset="-122"/>
                <a:cs typeface="Calibri" panose="020F0502020204030204" pitchFamily="34" charset="-120"/>
              </a:rPr>
              <a:t>Unis tự thao tác được trọn một vòng đơn hàng trên môi trường dùng thử.</a:t>
            </a:r>
            <a:endParaRPr lang="en-US" sz="1400" dirty="0">
              <a:solidFill>
                <a:srgbClr val="14213C"/>
              </a:solidFill>
              <a:latin typeface="Calibri" panose="020F0502020204030204" pitchFamily="34" charset="0"/>
              <a:ea typeface="Calibri" panose="020F0502020204030204" pitchFamily="34" charset="-122"/>
              <a:cs typeface="Calibri" panose="020F0502020204030204" pitchFamily="34" charset="-120"/>
            </a:endParaRPr>
          </a:p>
        </p:txBody>
      </p:sp>
      <p:sp>
        <p:nvSpPr>
          <p:cNvPr id="33" name="Text 31"/>
          <p:cNvSpPr/>
          <p:nvPr/>
        </p:nvSpPr>
        <p:spPr>
          <a:xfrm>
            <a:off x="548640" y="6419088"/>
            <a:ext cx="6858000" cy="256032"/>
          </a:xfrm>
          <a:prstGeom prst="rect">
            <a:avLst/>
          </a:prstGeom>
          <a:noFill/>
        </p:spPr>
        <p:txBody>
          <a:bodyPr wrap="square" lIns="0" tIns="0" rIns="0" bIns="0" rtlCol="0" anchor="ctr"/>
          <a:lstStyle/>
          <a:p>
            <a:pPr marL="0" indent="0">
              <a:buNone/>
            </a:pPr>
            <a:r>
              <a:rPr lang="en-US" sz="850" kern="0" spc="60" dirty="0">
                <a:solidFill>
                  <a:srgbClr val="8B99B5"/>
                </a:solidFill>
                <a:latin typeface="Calibri" panose="020F0502020204030204" pitchFamily="34" charset="0"/>
                <a:ea typeface="Calibri" panose="020F0502020204030204" pitchFamily="34" charset="-122"/>
                <a:cs typeface="Calibri" panose="020F0502020204030204" pitchFamily="34" charset="-120"/>
              </a:rPr>
              <a:t>SMARTLOG × UNIS  ·  TÀI LIỆU TRAO ĐỔI</a:t>
            </a:r>
            <a:endParaRPr lang="en-US" sz="850" kern="0" spc="6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34" name="Text 32"/>
          <p:cNvSpPr/>
          <p:nvPr/>
        </p:nvSpPr>
        <p:spPr>
          <a:xfrm>
            <a:off x="7528255" y="6419088"/>
            <a:ext cx="4114800" cy="256032"/>
          </a:xfrm>
          <a:prstGeom prst="rect">
            <a:avLst/>
          </a:prstGeom>
          <a:noFill/>
        </p:spPr>
        <p:txBody>
          <a:bodyPr wrap="square" lIns="0" tIns="0" rIns="0" bIns="0" rtlCol="0" anchor="ctr"/>
          <a:lstStyle/>
          <a:p>
            <a:pPr marL="0" indent="0" algn="r">
              <a:buNone/>
            </a:pPr>
            <a:r>
              <a:rPr lang="en-US" sz="850" kern="0" spc="60" dirty="0">
                <a:solidFill>
                  <a:srgbClr val="8B99B5"/>
                </a:solidFill>
                <a:latin typeface="Calibri" panose="020F0502020204030204" pitchFamily="34" charset="0"/>
                <a:ea typeface="Calibri" panose="020F0502020204030204" pitchFamily="34" charset="-122"/>
                <a:cs typeface="Calibri" panose="020F0502020204030204" pitchFamily="34" charset="-120"/>
              </a:rPr>
              <a:t>CÁC CHẶNG   10 / 17</a:t>
            </a:r>
            <a:endParaRPr lang="en-US" sz="850" kern="0" spc="6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02336"/>
            <a:ext cx="137160" cy="137160"/>
          </a:xfrm>
          <a:prstGeom prst="roundRect">
            <a:avLst>
              <a:gd name="adj" fmla="val 23333"/>
            </a:avLst>
          </a:prstGeom>
          <a:solidFill>
            <a:srgbClr val="EAB308"/>
          </a:solidFill>
          <a:ln w="12700">
            <a:solidFill>
              <a:srgbClr val="EAB308"/>
            </a:solidFill>
            <a:prstDash val="solid"/>
          </a:ln>
        </p:spPr>
        <p:txBody>
          <a:bodyPr/>
          <a:lstStyle/>
          <a:p>
            <a:endParaRPr lang="en-US"/>
          </a:p>
        </p:txBody>
      </p:sp>
      <p:sp>
        <p:nvSpPr>
          <p:cNvPr id="3" name="Text 1"/>
          <p:cNvSpPr/>
          <p:nvPr/>
        </p:nvSpPr>
        <p:spPr>
          <a:xfrm>
            <a:off x="786384" y="329184"/>
            <a:ext cx="10820095" cy="274320"/>
          </a:xfrm>
          <a:prstGeom prst="rect">
            <a:avLst/>
          </a:prstGeom>
          <a:noFill/>
        </p:spPr>
        <p:txBody>
          <a:bodyPr wrap="square" lIns="0" tIns="0" rIns="0" bIns="0" rtlCol="0" anchor="ctr"/>
          <a:lstStyle/>
          <a:p>
            <a:pPr marL="0" indent="0">
              <a:buNone/>
            </a:pPr>
            <a:r>
              <a:rPr lang="en-US" sz="1400" b="1" kern="0" spc="160" dirty="0">
                <a:solidFill>
                  <a:srgbClr val="A16207"/>
                </a:solidFill>
                <a:latin typeface="Calibri" panose="020F0502020204030204" pitchFamily="34" charset="0"/>
                <a:ea typeface="Calibri" panose="020F0502020204030204" pitchFamily="34" charset="-122"/>
                <a:cs typeface="Calibri" panose="020F0502020204030204" pitchFamily="34" charset="-120"/>
              </a:rPr>
              <a:t>06 · CHI TIẾT CÁC CHẶNG (3/3)</a:t>
            </a:r>
            <a:endParaRPr lang="en-US" sz="1400" b="1" kern="0" spc="160" dirty="0">
              <a:solidFill>
                <a:srgbClr val="A16207"/>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48640" y="640080"/>
            <a:ext cx="10607040" cy="566928"/>
          </a:xfrm>
          <a:prstGeom prst="rect">
            <a:avLst/>
          </a:prstGeom>
          <a:noFill/>
        </p:spPr>
        <p:txBody>
          <a:bodyPr wrap="square" lIns="0" tIns="0" rIns="0" bIns="0" rtlCol="0" anchor="t"/>
          <a:lstStyle/>
          <a:p>
            <a:pPr marL="0" indent="0">
              <a:buNone/>
            </a:pPr>
            <a:r>
              <a:rPr lang="en-US" sz="2500" b="1" dirty="0">
                <a:solidFill>
                  <a:srgbClr val="0F2A5C"/>
                </a:solidFill>
                <a:latin typeface="Calibri" panose="020F0502020204030204" pitchFamily="34" charset="0"/>
                <a:ea typeface="Calibri" panose="020F0502020204030204" pitchFamily="34" charset="-122"/>
                <a:cs typeface="Calibri" panose="020F0502020204030204" pitchFamily="34" charset="-120"/>
              </a:rPr>
              <a:t>Từ bản dùng thử đến vận hành chính thức</a:t>
            </a:r>
            <a:endParaRPr lang="en-US" sz="2500" dirty="0"/>
          </a:p>
        </p:txBody>
      </p:sp>
      <p:sp>
        <p:nvSpPr>
          <p:cNvPr id="6" name="Shape 4"/>
          <p:cNvSpPr/>
          <p:nvPr/>
        </p:nvSpPr>
        <p:spPr>
          <a:xfrm>
            <a:off x="548640" y="1233805"/>
            <a:ext cx="11094720" cy="2661920"/>
          </a:xfrm>
          <a:prstGeom prst="roundRect">
            <a:avLst>
              <a:gd name="adj" fmla="val 3719"/>
            </a:avLst>
          </a:prstGeom>
          <a:solidFill>
            <a:srgbClr val="FFFFFF"/>
          </a:solidFill>
          <a:ln w="12700">
            <a:solidFill>
              <a:srgbClr val="DDE5F0"/>
            </a:solidFill>
            <a:prstDash val="solid"/>
          </a:ln>
          <a:effectLst>
            <a:outerShdw blurRad="114300" dist="17780" dir="5400000" algn="bl" rotWithShape="0">
              <a:srgbClr val="0F2A5C">
                <a:alpha val="9000"/>
              </a:srgbClr>
            </a:outerShdw>
          </a:effectLst>
        </p:spPr>
        <p:txBody>
          <a:bodyPr/>
          <a:lstStyle/>
          <a:p>
            <a:endParaRPr lang="en-US" sz="2400"/>
          </a:p>
        </p:txBody>
      </p:sp>
      <p:sp>
        <p:nvSpPr>
          <p:cNvPr id="7" name="Shape 5"/>
          <p:cNvSpPr/>
          <p:nvPr/>
        </p:nvSpPr>
        <p:spPr>
          <a:xfrm>
            <a:off x="768096" y="1380363"/>
            <a:ext cx="457200" cy="256032"/>
          </a:xfrm>
          <a:prstGeom prst="roundRect">
            <a:avLst>
              <a:gd name="adj" fmla="val 21429"/>
            </a:avLst>
          </a:prstGeom>
          <a:solidFill>
            <a:srgbClr val="059669"/>
          </a:solidFill>
          <a:ln w="12700">
            <a:solidFill>
              <a:srgbClr val="333333"/>
            </a:solidFill>
            <a:prstDash val="solid"/>
          </a:ln>
        </p:spPr>
        <p:txBody>
          <a:bodyPr/>
          <a:lstStyle/>
          <a:p>
            <a:endParaRPr lang="en-US" sz="2400"/>
          </a:p>
        </p:txBody>
      </p:sp>
      <p:sp>
        <p:nvSpPr>
          <p:cNvPr id="8" name="Text 6"/>
          <p:cNvSpPr/>
          <p:nvPr/>
        </p:nvSpPr>
        <p:spPr>
          <a:xfrm>
            <a:off x="768096" y="1380363"/>
            <a:ext cx="457200" cy="256032"/>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C4</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Text 7"/>
          <p:cNvSpPr/>
          <p:nvPr/>
        </p:nvSpPr>
        <p:spPr>
          <a:xfrm>
            <a:off x="1316736" y="1352931"/>
            <a:ext cx="6949440" cy="310896"/>
          </a:xfrm>
          <a:prstGeom prst="rect">
            <a:avLst/>
          </a:prstGeom>
          <a:noFill/>
        </p:spPr>
        <p:txBody>
          <a:bodyPr wrap="square" lIns="0" tIns="0" rIns="0" bIns="0" rtlCol="0" anchor="ctr"/>
          <a:lstStyle/>
          <a:p>
            <a:pPr marL="0" indent="0">
              <a:buNone/>
            </a:pPr>
            <a:r>
              <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rPr>
              <a:t>Đồng hành tại hiện trường — 4–6 tuần</a:t>
            </a:r>
            <a:endPar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Text 8"/>
          <p:cNvSpPr/>
          <p:nvPr/>
        </p:nvSpPr>
        <p:spPr>
          <a:xfrm>
            <a:off x="9264015" y="1352931"/>
            <a:ext cx="2148840" cy="310896"/>
          </a:xfrm>
          <a:prstGeom prst="rect">
            <a:avLst/>
          </a:prstGeom>
          <a:noFill/>
        </p:spPr>
        <p:txBody>
          <a:bodyPr wrap="square" lIns="0" tIns="0" rIns="0" bIns="0" rtlCol="0" anchor="ctr"/>
          <a:lstStyle/>
          <a:p>
            <a:pPr marL="0" indent="0" algn="r">
              <a:buNone/>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27/09/2026 → 25/10/2026</a:t>
            </a:r>
            <a:endPar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Shape 11"/>
          <p:cNvSpPr/>
          <p:nvPr/>
        </p:nvSpPr>
        <p:spPr>
          <a:xfrm>
            <a:off x="768096" y="1727835"/>
            <a:ext cx="10655503" cy="0"/>
          </a:xfrm>
          <a:prstGeom prst="line">
            <a:avLst/>
          </a:prstGeom>
          <a:noFill/>
          <a:ln w="9525">
            <a:solidFill>
              <a:srgbClr val="DDE5F0"/>
            </a:solidFill>
            <a:prstDash val="solid"/>
          </a:ln>
        </p:spPr>
        <p:txBody>
          <a:bodyPr/>
          <a:lstStyle/>
          <a:p>
            <a:endParaRPr lang="en-US"/>
          </a:p>
        </p:txBody>
      </p:sp>
      <p:sp>
        <p:nvSpPr>
          <p:cNvPr id="14" name="Text 12"/>
          <p:cNvSpPr/>
          <p:nvPr/>
        </p:nvSpPr>
        <p:spPr>
          <a:xfrm>
            <a:off x="804672" y="1819275"/>
            <a:ext cx="2743200" cy="201168"/>
          </a:xfrm>
          <a:prstGeom prst="rect">
            <a:avLst/>
          </a:prstGeom>
          <a:noFill/>
        </p:spPr>
        <p:txBody>
          <a:bodyPr wrap="square" lIns="0" tIns="0" rIns="0" bIns="0" rtlCol="0" anchor="ctr"/>
          <a:lstStyle/>
          <a:p>
            <a:pPr marL="0" indent="0">
              <a:buNone/>
            </a:pPr>
            <a:r>
              <a:rPr lang="en-US" sz="1400" b="1" kern="0" spc="120" dirty="0">
                <a:solidFill>
                  <a:srgbClr val="8B99B5"/>
                </a:solidFill>
                <a:latin typeface="Calibri" panose="020F0502020204030204" pitchFamily="34" charset="0"/>
                <a:ea typeface="Calibri" panose="020F0502020204030204" pitchFamily="34" charset="-122"/>
                <a:cs typeface="Calibri" panose="020F0502020204030204" pitchFamily="34" charset="-120"/>
              </a:rPr>
              <a:t>VIỆC SẼ LÀM</a:t>
            </a:r>
            <a:endParaRPr lang="en-US" sz="1400" b="1" kern="0" spc="12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Text 13"/>
          <p:cNvSpPr/>
          <p:nvPr/>
        </p:nvSpPr>
        <p:spPr>
          <a:xfrm>
            <a:off x="859536" y="2096643"/>
            <a:ext cx="5577840" cy="896112"/>
          </a:xfrm>
          <a:prstGeom prst="rect">
            <a:avLst/>
          </a:prstGeom>
          <a:noFill/>
        </p:spPr>
        <p:txBody>
          <a:bodyPr wrap="square" lIns="0" tIns="0" rIns="0" bIns="0" rtlCol="0" anchor="t"/>
          <a:lstStyle/>
          <a:p>
            <a:pPr marL="152400" indent="-152400">
              <a:lnSpc>
                <a:spcPct val="106000"/>
              </a:lnSpc>
              <a:spcAft>
                <a:spcPts val="300"/>
              </a:spcAft>
              <a:buSzPct val="100000"/>
              <a:buChar char="•"/>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Đội dự án có mặt văn phòng Unis, làm cùng nhân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viên. </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Góp ý được xử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lý</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liên</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tục</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để</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hoàn</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thiện</a:t>
            </a:r>
            <a:endParaRPr lang="en-US" sz="1400" dirty="0"/>
          </a:p>
          <a:p>
            <a:pPr marL="152400" indent="-152400">
              <a:lnSpc>
                <a:spcPct val="106000"/>
              </a:lnSpc>
              <a:spcAft>
                <a:spcPts val="300"/>
              </a:spcAft>
              <a:buSzPct val="100000"/>
              <a:buChar char="•"/>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Đưa vào dùng thật từng phần: tuyến giao trước, rồi kho, rồi nhóm khách đặt hàng</a:t>
            </a:r>
            <a:endParaRPr lang="en-US" sz="1400" dirty="0"/>
          </a:p>
          <a:p>
            <a:pPr marL="152400" indent="-152400">
              <a:lnSpc>
                <a:spcPct val="106000"/>
              </a:lnSpc>
              <a:spcAft>
                <a:spcPts val="300"/>
              </a:spcAft>
              <a:buSzPct val="100000"/>
              <a:buChar char="•"/>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Đo mức độ sử dụng hằng tuần, gửi báo cáo cho lãnh đạo hai bên</a:t>
            </a:r>
            <a:endPar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4"/>
          <p:cNvSpPr/>
          <p:nvPr/>
        </p:nvSpPr>
        <p:spPr>
          <a:xfrm>
            <a:off x="6693408" y="1819275"/>
            <a:ext cx="3657600" cy="201168"/>
          </a:xfrm>
          <a:prstGeom prst="rect">
            <a:avLst/>
          </a:prstGeom>
          <a:noFill/>
        </p:spPr>
        <p:txBody>
          <a:bodyPr wrap="square" lIns="0" tIns="0" rIns="0" bIns="0" rtlCol="0" anchor="ctr"/>
          <a:lstStyle/>
          <a:p>
            <a:pPr marL="0" indent="0">
              <a:buNone/>
            </a:pPr>
            <a:r>
              <a:rPr lang="en-US" sz="1400" b="1" kern="0" spc="120" dirty="0">
                <a:solidFill>
                  <a:srgbClr val="8B99B5"/>
                </a:solidFill>
                <a:latin typeface="Calibri" panose="020F0502020204030204" pitchFamily="34" charset="0"/>
                <a:ea typeface="Calibri" panose="020F0502020204030204" pitchFamily="34" charset="-122"/>
                <a:cs typeface="Calibri" panose="020F0502020204030204" pitchFamily="34" charset="-120"/>
              </a:rPr>
              <a:t>VÌ SAO QUAN TRỌNG NHẤT</a:t>
            </a:r>
            <a:endParaRPr lang="en-US" sz="1400" b="1" kern="0" spc="12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Text 15"/>
          <p:cNvSpPr/>
          <p:nvPr/>
        </p:nvSpPr>
        <p:spPr>
          <a:xfrm>
            <a:off x="6748272" y="2096643"/>
            <a:ext cx="4663440" cy="896112"/>
          </a:xfrm>
          <a:prstGeom prst="rect">
            <a:avLst/>
          </a:prstGeom>
          <a:noFill/>
        </p:spPr>
        <p:txBody>
          <a:bodyPr wrap="square" lIns="0" tIns="0" rIns="0" bIns="0" rtlCol="0" anchor="t"/>
          <a:lstStyle/>
          <a:p>
            <a:pPr marL="152400" indent="-152400">
              <a:lnSpc>
                <a:spcPct val="106000"/>
              </a:lnSpc>
              <a:spcAft>
                <a:spcPts val="300"/>
              </a:spcAft>
              <a:buSzPct val="100000"/>
              <a:buChar char="•"/>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Dự án kho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vận</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có</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thành</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công</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hay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không</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là</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ở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khâu</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này</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phần</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mềm</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có</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tốt</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nhưng</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người</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dùng</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không</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sử</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dụng</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thì</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cũng</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bỏ</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endParaRPr lang="en-US" sz="1400" dirty="0"/>
          </a:p>
          <a:p>
            <a:pPr marL="152400" indent="-152400">
              <a:lnSpc>
                <a:spcPct val="106000"/>
              </a:lnSpc>
              <a:spcAft>
                <a:spcPts val="300"/>
              </a:spcAft>
              <a:buSzPct val="100000"/>
              <a:buChar char="•"/>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Thời lượng 4–6 tuần co giãn theo thực tế, không chốt cứng theo lịch đẹp</a:t>
            </a:r>
            <a:endPar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Shape 16"/>
          <p:cNvSpPr/>
          <p:nvPr/>
        </p:nvSpPr>
        <p:spPr>
          <a:xfrm>
            <a:off x="756209" y="3428619"/>
            <a:ext cx="10655503" cy="365760"/>
          </a:xfrm>
          <a:prstGeom prst="roundRect">
            <a:avLst>
              <a:gd name="adj" fmla="val 17500"/>
            </a:avLst>
          </a:prstGeom>
          <a:solidFill>
            <a:srgbClr val="FDF6DF"/>
          </a:solidFill>
          <a:ln w="12700">
            <a:solidFill>
              <a:srgbClr val="F0DFAA"/>
            </a:solidFill>
            <a:prstDash val="solid"/>
          </a:ln>
        </p:spPr>
        <p:txBody>
          <a:bodyPr/>
          <a:lstStyle/>
          <a:p>
            <a:endParaRPr lang="en-US" sz="2400"/>
          </a:p>
        </p:txBody>
      </p:sp>
      <p:sp>
        <p:nvSpPr>
          <p:cNvPr id="19" name="Text 17"/>
          <p:cNvSpPr/>
          <p:nvPr/>
        </p:nvSpPr>
        <p:spPr>
          <a:xfrm>
            <a:off x="932688" y="3428619"/>
            <a:ext cx="10362895" cy="365760"/>
          </a:xfrm>
          <a:prstGeom prst="rect">
            <a:avLst/>
          </a:prstGeom>
          <a:noFill/>
        </p:spPr>
        <p:txBody>
          <a:bodyPr wrap="square" lIns="0" tIns="0" rIns="0" bIns="0" rtlCol="0" anchor="ctr"/>
          <a:lstStyle/>
          <a:p>
            <a:pPr marL="0" indent="0">
              <a:buNone/>
            </a:pPr>
            <a:r>
              <a:rPr lang="en-US" sz="1400" b="1" dirty="0">
                <a:solidFill>
                  <a:srgbClr val="A16207"/>
                </a:solidFill>
                <a:latin typeface="Calibri" panose="020F0502020204030204" pitchFamily="34" charset="0"/>
                <a:ea typeface="Calibri" panose="020F0502020204030204" pitchFamily="34" charset="-122"/>
                <a:cs typeface="Calibri" panose="020F0502020204030204" pitchFamily="34" charset="-120"/>
              </a:rPr>
              <a:t>Điều kiện nghiệm thu:  </a:t>
            </a:r>
            <a:r>
              <a:rPr lang="en-US" sz="1400" dirty="0">
                <a:solidFill>
                  <a:srgbClr val="14213C"/>
                </a:solidFill>
                <a:latin typeface="Calibri" panose="020F0502020204030204" pitchFamily="34" charset="0"/>
                <a:ea typeface="Calibri" panose="020F0502020204030204" pitchFamily="34" charset="-122"/>
                <a:cs typeface="Calibri" panose="020F0502020204030204" pitchFamily="34" charset="-120"/>
              </a:rPr>
              <a:t>Cả ba hệ thống đều có bộ phận </a:t>
            </a:r>
            <a:r>
              <a:rPr lang="en-US" sz="1400" dirty="0" err="1">
                <a:solidFill>
                  <a:srgbClr val="14213C"/>
                </a:solidFill>
                <a:latin typeface="Calibri" panose="020F0502020204030204" pitchFamily="34" charset="0"/>
                <a:ea typeface="Calibri" panose="020F0502020204030204" pitchFamily="34" charset="-122"/>
                <a:cs typeface="Calibri" panose="020F0502020204030204" pitchFamily="34" charset="-120"/>
              </a:rPr>
              <a:t>dùng</a:t>
            </a:r>
            <a:r>
              <a:rPr lang="en-US" sz="1400" dirty="0">
                <a:solidFill>
                  <a:srgbClr val="14213C"/>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14213C"/>
                </a:solidFill>
                <a:latin typeface="Calibri" panose="020F0502020204030204" pitchFamily="34" charset="0"/>
                <a:ea typeface="Calibri" panose="020F0502020204030204" pitchFamily="34" charset="-122"/>
                <a:cs typeface="Calibri" panose="020F0502020204030204" pitchFamily="34" charset="-120"/>
              </a:rPr>
              <a:t>thực</a:t>
            </a:r>
            <a:r>
              <a:rPr lang="en-US" sz="1400" dirty="0">
                <a:solidFill>
                  <a:srgbClr val="14213C"/>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14213C"/>
                </a:solidFill>
                <a:latin typeface="Calibri" panose="020F0502020204030204" pitchFamily="34" charset="0"/>
                <a:ea typeface="Calibri" panose="020F0502020204030204" pitchFamily="34" charset="-122"/>
                <a:cs typeface="Calibri" panose="020F0502020204030204" pitchFamily="34" charset="-120"/>
              </a:rPr>
              <a:t>tế</a:t>
            </a:r>
            <a:r>
              <a:rPr lang="en-US" sz="1400" dirty="0">
                <a:solidFill>
                  <a:srgbClr val="14213C"/>
                </a:solidFill>
                <a:latin typeface="Calibri" panose="020F0502020204030204" pitchFamily="34" charset="0"/>
                <a:ea typeface="Calibri" panose="020F0502020204030204" pitchFamily="34" charset="-122"/>
                <a:cs typeface="Calibri" panose="020F0502020204030204" pitchFamily="34" charset="-120"/>
              </a:rPr>
              <a:t> ≥95% công việc trong 2 tuần liên tiếp.</a:t>
            </a:r>
            <a:endParaRPr lang="en-US" sz="1400" dirty="0">
              <a:solidFill>
                <a:srgbClr val="14213C"/>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Shape 18"/>
          <p:cNvSpPr/>
          <p:nvPr/>
        </p:nvSpPr>
        <p:spPr>
          <a:xfrm>
            <a:off x="536575" y="4134485"/>
            <a:ext cx="11094720" cy="2256790"/>
          </a:xfrm>
          <a:prstGeom prst="roundRect">
            <a:avLst>
              <a:gd name="adj" fmla="val 3879"/>
            </a:avLst>
          </a:prstGeom>
          <a:solidFill>
            <a:srgbClr val="FFFFFF"/>
          </a:solidFill>
          <a:ln w="12700">
            <a:solidFill>
              <a:srgbClr val="DDE5F0"/>
            </a:solidFill>
            <a:prstDash val="solid"/>
          </a:ln>
          <a:effectLst>
            <a:outerShdw blurRad="114300" dist="17780" dir="5400000" algn="bl" rotWithShape="0">
              <a:srgbClr val="0F2A5C">
                <a:alpha val="9000"/>
              </a:srgbClr>
            </a:outerShdw>
          </a:effectLst>
        </p:spPr>
        <p:txBody>
          <a:bodyPr/>
          <a:lstStyle/>
          <a:p>
            <a:endParaRPr lang="en-US" sz="2400"/>
          </a:p>
        </p:txBody>
      </p:sp>
      <p:sp>
        <p:nvSpPr>
          <p:cNvPr id="21" name="Shape 19"/>
          <p:cNvSpPr/>
          <p:nvPr/>
        </p:nvSpPr>
        <p:spPr>
          <a:xfrm>
            <a:off x="768096" y="4280916"/>
            <a:ext cx="457200" cy="256032"/>
          </a:xfrm>
          <a:prstGeom prst="roundRect">
            <a:avLst>
              <a:gd name="adj" fmla="val 21429"/>
            </a:avLst>
          </a:prstGeom>
          <a:solidFill>
            <a:srgbClr val="059669"/>
          </a:solidFill>
          <a:ln w="12700">
            <a:solidFill>
              <a:srgbClr val="333333"/>
            </a:solidFill>
            <a:prstDash val="solid"/>
          </a:ln>
        </p:spPr>
        <p:txBody>
          <a:bodyPr/>
          <a:lstStyle/>
          <a:p>
            <a:endParaRPr lang="en-US" sz="2400"/>
          </a:p>
        </p:txBody>
      </p:sp>
      <p:sp>
        <p:nvSpPr>
          <p:cNvPr id="22" name="Text 20"/>
          <p:cNvSpPr/>
          <p:nvPr/>
        </p:nvSpPr>
        <p:spPr>
          <a:xfrm>
            <a:off x="768096" y="4280916"/>
            <a:ext cx="457200" cy="256032"/>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C5</a:t>
            </a:r>
            <a:endPar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Text 21"/>
          <p:cNvSpPr/>
          <p:nvPr/>
        </p:nvSpPr>
        <p:spPr>
          <a:xfrm>
            <a:off x="1316736" y="4253484"/>
            <a:ext cx="6949440" cy="310896"/>
          </a:xfrm>
          <a:prstGeom prst="rect">
            <a:avLst/>
          </a:prstGeom>
          <a:noFill/>
        </p:spPr>
        <p:txBody>
          <a:bodyPr wrap="square" lIns="0" tIns="0" rIns="0" bIns="0" rtlCol="0" anchor="ctr"/>
          <a:lstStyle/>
          <a:p>
            <a:pPr marL="0" indent="0">
              <a:buNone/>
            </a:pPr>
            <a:r>
              <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rPr>
              <a:t>Vận hành chính thức — trong tháng 10</a:t>
            </a:r>
            <a:endPar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Text 22"/>
          <p:cNvSpPr/>
          <p:nvPr/>
        </p:nvSpPr>
        <p:spPr>
          <a:xfrm>
            <a:off x="9264015" y="4253484"/>
            <a:ext cx="2148840" cy="310896"/>
          </a:xfrm>
          <a:prstGeom prst="rect">
            <a:avLst/>
          </a:prstGeom>
          <a:noFill/>
        </p:spPr>
        <p:txBody>
          <a:bodyPr wrap="square" lIns="0" tIns="0" rIns="0" bIns="0" rtlCol="0" anchor="ctr"/>
          <a:lstStyle/>
          <a:p>
            <a:pPr marL="0" indent="0" algn="r">
              <a:buNone/>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25/10/2026 → 08/11/2026</a:t>
            </a:r>
            <a:endPar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27" name="Shape 25"/>
          <p:cNvSpPr/>
          <p:nvPr/>
        </p:nvSpPr>
        <p:spPr>
          <a:xfrm>
            <a:off x="768096" y="4628388"/>
            <a:ext cx="10655503" cy="0"/>
          </a:xfrm>
          <a:prstGeom prst="line">
            <a:avLst/>
          </a:prstGeom>
          <a:noFill/>
          <a:ln w="9525">
            <a:solidFill>
              <a:srgbClr val="DDE5F0"/>
            </a:solidFill>
            <a:prstDash val="solid"/>
          </a:ln>
        </p:spPr>
        <p:txBody>
          <a:bodyPr/>
          <a:lstStyle/>
          <a:p>
            <a:endParaRPr lang="en-US"/>
          </a:p>
        </p:txBody>
      </p:sp>
      <p:sp>
        <p:nvSpPr>
          <p:cNvPr id="28" name="Text 26"/>
          <p:cNvSpPr/>
          <p:nvPr/>
        </p:nvSpPr>
        <p:spPr>
          <a:xfrm>
            <a:off x="804672" y="4719828"/>
            <a:ext cx="2743200" cy="201168"/>
          </a:xfrm>
          <a:prstGeom prst="rect">
            <a:avLst/>
          </a:prstGeom>
          <a:noFill/>
        </p:spPr>
        <p:txBody>
          <a:bodyPr wrap="square" lIns="0" tIns="0" rIns="0" bIns="0" rtlCol="0" anchor="ctr"/>
          <a:lstStyle/>
          <a:p>
            <a:pPr marL="0" indent="0">
              <a:buNone/>
            </a:pPr>
            <a:r>
              <a:rPr lang="en-US" sz="1400" b="1" kern="0" spc="120" dirty="0">
                <a:solidFill>
                  <a:srgbClr val="8B99B5"/>
                </a:solidFill>
                <a:latin typeface="Calibri" panose="020F0502020204030204" pitchFamily="34" charset="0"/>
                <a:ea typeface="Calibri" panose="020F0502020204030204" pitchFamily="34" charset="-122"/>
                <a:cs typeface="Calibri" panose="020F0502020204030204" pitchFamily="34" charset="-120"/>
              </a:rPr>
              <a:t>VIỆC SẼ LÀM</a:t>
            </a:r>
            <a:endParaRPr lang="en-US" sz="1400" b="1" kern="0" spc="12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29" name="Text 27"/>
          <p:cNvSpPr/>
          <p:nvPr/>
        </p:nvSpPr>
        <p:spPr>
          <a:xfrm>
            <a:off x="859536" y="5006721"/>
            <a:ext cx="5577840" cy="804672"/>
          </a:xfrm>
          <a:prstGeom prst="rect">
            <a:avLst/>
          </a:prstGeom>
          <a:noFill/>
        </p:spPr>
        <p:txBody>
          <a:bodyPr wrap="square" lIns="0" tIns="0" rIns="0" bIns="0" rtlCol="0" anchor="t"/>
          <a:lstStyle/>
          <a:p>
            <a:pPr marL="152400" indent="-152400">
              <a:lnSpc>
                <a:spcPct val="106000"/>
              </a:lnSpc>
              <a:spcAft>
                <a:spcPts val="300"/>
              </a:spcAft>
              <a:buSzPct val="100000"/>
              <a:buChar char="•"/>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Mở rộng ra toàn bộ kho / tuyến / nhóm khách trong phạm vi hợp đồng</a:t>
            </a:r>
            <a:endParaRPr lang="en-US" sz="1400" dirty="0"/>
          </a:p>
          <a:p>
            <a:pPr marL="152400" indent="-152400">
              <a:lnSpc>
                <a:spcPct val="106000"/>
              </a:lnSpc>
              <a:spcAft>
                <a:spcPts val="300"/>
              </a:spcAft>
              <a:buSzPct val="100000"/>
              <a:buChar char="•"/>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Đội kỹ thuật trực 2 tuần đầu — sự cố hiện trường là ưu tiên số một</a:t>
            </a:r>
            <a:endParaRPr lang="en-US" sz="1400" dirty="0"/>
          </a:p>
          <a:p>
            <a:pPr marL="152400" indent="-152400">
              <a:lnSpc>
                <a:spcPct val="106000"/>
              </a:lnSpc>
              <a:spcAft>
                <a:spcPts val="300"/>
              </a:spcAft>
              <a:buSzPct val="100000"/>
              <a:buChar char="•"/>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Chốt danh sách mong muốn giai đoạn 2 thành văn bản (kèm báo giá riêng)</a:t>
            </a:r>
            <a:endPar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30" name="Text 28"/>
          <p:cNvSpPr/>
          <p:nvPr/>
        </p:nvSpPr>
        <p:spPr>
          <a:xfrm>
            <a:off x="6693408" y="4719828"/>
            <a:ext cx="3657600" cy="201168"/>
          </a:xfrm>
          <a:prstGeom prst="rect">
            <a:avLst/>
          </a:prstGeom>
          <a:noFill/>
        </p:spPr>
        <p:txBody>
          <a:bodyPr wrap="square" lIns="0" tIns="0" rIns="0" bIns="0" rtlCol="0" anchor="ctr"/>
          <a:lstStyle/>
          <a:p>
            <a:pPr marL="0" indent="0">
              <a:buNone/>
            </a:pPr>
            <a:r>
              <a:rPr lang="en-US" sz="1400" b="1" kern="0" spc="120" dirty="0">
                <a:solidFill>
                  <a:srgbClr val="8B99B5"/>
                </a:solidFill>
                <a:latin typeface="Calibri" panose="020F0502020204030204" pitchFamily="34" charset="0"/>
                <a:ea typeface="Calibri" panose="020F0502020204030204" pitchFamily="34" charset="-122"/>
                <a:cs typeface="Calibri" panose="020F0502020204030204" pitchFamily="34" charset="-120"/>
              </a:rPr>
              <a:t>NGUYÊN TẮC</a:t>
            </a:r>
            <a:endParaRPr lang="en-US" sz="1400" b="1" kern="0" spc="12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31" name="Text 29"/>
          <p:cNvSpPr/>
          <p:nvPr/>
        </p:nvSpPr>
        <p:spPr>
          <a:xfrm>
            <a:off x="6748272" y="5006721"/>
            <a:ext cx="4663440" cy="804672"/>
          </a:xfrm>
          <a:prstGeom prst="rect">
            <a:avLst/>
          </a:prstGeom>
          <a:noFill/>
        </p:spPr>
        <p:txBody>
          <a:bodyPr wrap="square" lIns="0" tIns="0" rIns="0" bIns="0" rtlCol="0" anchor="t"/>
          <a:lstStyle/>
          <a:p>
            <a:pPr marL="152400" indent="-152400">
              <a:lnSpc>
                <a:spcPct val="106000"/>
              </a:lnSpc>
              <a:spcAft>
                <a:spcPts val="300"/>
              </a:spcAft>
              <a:buSzPct val="100000"/>
              <a:buChar char="•"/>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Cách làm cũ chỉ tắt khi số liệu cho phép, không tắt theo lịch</a:t>
            </a:r>
            <a:endParaRPr lang="en-US" sz="1400" dirty="0"/>
          </a:p>
          <a:p>
            <a:pPr marL="152400" indent="-152400">
              <a:lnSpc>
                <a:spcPct val="106000"/>
              </a:lnSpc>
              <a:spcAft>
                <a:spcPts val="300"/>
              </a:spcAft>
              <a:buSzPct val="100000"/>
              <a:buChar char="•"/>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Mong muốn giai đoạn 2 ghi thành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văn</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bản</a:t>
            </a:r>
            <a:endPar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32" name="Shape 30"/>
          <p:cNvSpPr/>
          <p:nvPr/>
        </p:nvSpPr>
        <p:spPr>
          <a:xfrm>
            <a:off x="768096" y="5932932"/>
            <a:ext cx="10655503" cy="365760"/>
          </a:xfrm>
          <a:prstGeom prst="roundRect">
            <a:avLst>
              <a:gd name="adj" fmla="val 17500"/>
            </a:avLst>
          </a:prstGeom>
          <a:solidFill>
            <a:srgbClr val="FDF6DF"/>
          </a:solidFill>
          <a:ln w="12700">
            <a:solidFill>
              <a:srgbClr val="F0DFAA"/>
            </a:solidFill>
            <a:prstDash val="solid"/>
          </a:ln>
        </p:spPr>
        <p:txBody>
          <a:bodyPr/>
          <a:lstStyle/>
          <a:p>
            <a:endParaRPr lang="en-US" sz="2400"/>
          </a:p>
        </p:txBody>
      </p:sp>
      <p:sp>
        <p:nvSpPr>
          <p:cNvPr id="33" name="Text 31"/>
          <p:cNvSpPr/>
          <p:nvPr/>
        </p:nvSpPr>
        <p:spPr>
          <a:xfrm>
            <a:off x="932688" y="5932932"/>
            <a:ext cx="10362895" cy="365760"/>
          </a:xfrm>
          <a:prstGeom prst="rect">
            <a:avLst/>
          </a:prstGeom>
          <a:noFill/>
        </p:spPr>
        <p:txBody>
          <a:bodyPr wrap="square" lIns="0" tIns="0" rIns="0" bIns="0" rtlCol="0" anchor="ctr"/>
          <a:lstStyle/>
          <a:p>
            <a:pPr marL="0" indent="0">
              <a:buNone/>
            </a:pPr>
            <a:r>
              <a:rPr lang="en-US" sz="1400" b="1" dirty="0">
                <a:solidFill>
                  <a:srgbClr val="A16207"/>
                </a:solidFill>
                <a:latin typeface="Calibri" panose="020F0502020204030204" pitchFamily="34" charset="0"/>
                <a:ea typeface="Calibri" panose="020F0502020204030204" pitchFamily="34" charset="-122"/>
                <a:cs typeface="Calibri" panose="020F0502020204030204" pitchFamily="34" charset="-120"/>
              </a:rPr>
              <a:t>Điều kiện nghiệm thu:  </a:t>
            </a:r>
            <a:r>
              <a:rPr lang="en-US" sz="1400" dirty="0">
                <a:solidFill>
                  <a:srgbClr val="14213C"/>
                </a:solidFill>
                <a:latin typeface="Calibri" panose="020F0502020204030204" pitchFamily="34" charset="0"/>
                <a:ea typeface="Calibri" panose="020F0502020204030204" pitchFamily="34" charset="-122"/>
                <a:cs typeface="Calibri" panose="020F0502020204030204" pitchFamily="34" charset="-120"/>
              </a:rPr>
              <a:t>Ba hệ thống vận hành chính thức trong phạm vi hợp đồng · các chỉ tiêu cam kết (mục Cam kết) bắt đầu được đo.</a:t>
            </a:r>
            <a:endParaRPr lang="en-US" sz="1400" dirty="0">
              <a:solidFill>
                <a:srgbClr val="14213C"/>
              </a:solidFill>
              <a:latin typeface="Calibri" panose="020F0502020204030204" pitchFamily="34" charset="0"/>
              <a:ea typeface="Calibri" panose="020F0502020204030204" pitchFamily="34" charset="-122"/>
              <a:cs typeface="Calibri" panose="020F0502020204030204" pitchFamily="34" charset="-120"/>
            </a:endParaRPr>
          </a:p>
        </p:txBody>
      </p:sp>
      <p:sp>
        <p:nvSpPr>
          <p:cNvPr id="34" name="Text 32"/>
          <p:cNvSpPr/>
          <p:nvPr/>
        </p:nvSpPr>
        <p:spPr>
          <a:xfrm>
            <a:off x="548640" y="6419088"/>
            <a:ext cx="6858000" cy="256032"/>
          </a:xfrm>
          <a:prstGeom prst="rect">
            <a:avLst/>
          </a:prstGeom>
          <a:noFill/>
        </p:spPr>
        <p:txBody>
          <a:bodyPr wrap="square" lIns="0" tIns="0" rIns="0" bIns="0" rtlCol="0" anchor="ctr"/>
          <a:lstStyle/>
          <a:p>
            <a:pPr marL="0" indent="0">
              <a:buNone/>
            </a:pPr>
            <a:r>
              <a:rPr lang="en-US" sz="850" kern="0" spc="60" dirty="0">
                <a:solidFill>
                  <a:srgbClr val="8B99B5"/>
                </a:solidFill>
                <a:latin typeface="Calibri" panose="020F0502020204030204" pitchFamily="34" charset="0"/>
                <a:ea typeface="Calibri" panose="020F0502020204030204" pitchFamily="34" charset="-122"/>
                <a:cs typeface="Calibri" panose="020F0502020204030204" pitchFamily="34" charset="-120"/>
              </a:rPr>
              <a:t>SMARTLOG × UNIS  ·  TÀI LIỆU TRAO ĐỔI</a:t>
            </a:r>
            <a:endParaRPr lang="en-US" sz="850" kern="0" spc="6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35" name="Text 33"/>
          <p:cNvSpPr/>
          <p:nvPr/>
        </p:nvSpPr>
        <p:spPr>
          <a:xfrm>
            <a:off x="7528255" y="6419088"/>
            <a:ext cx="4114800" cy="256032"/>
          </a:xfrm>
          <a:prstGeom prst="rect">
            <a:avLst/>
          </a:prstGeom>
          <a:noFill/>
        </p:spPr>
        <p:txBody>
          <a:bodyPr wrap="square" lIns="0" tIns="0" rIns="0" bIns="0" rtlCol="0" anchor="ctr"/>
          <a:lstStyle/>
          <a:p>
            <a:pPr marL="0" indent="0" algn="r">
              <a:buNone/>
            </a:pPr>
            <a:r>
              <a:rPr lang="en-US" sz="850" kern="0" spc="60" dirty="0">
                <a:solidFill>
                  <a:srgbClr val="8B99B5"/>
                </a:solidFill>
                <a:latin typeface="Calibri" panose="020F0502020204030204" pitchFamily="34" charset="0"/>
                <a:ea typeface="Calibri" panose="020F0502020204030204" pitchFamily="34" charset="-122"/>
                <a:cs typeface="Calibri" panose="020F0502020204030204" pitchFamily="34" charset="-120"/>
              </a:rPr>
              <a:t>CÁC CHẶNG   11 / 17</a:t>
            </a:r>
            <a:endParaRPr lang="en-US" sz="850" kern="0" spc="6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02336"/>
            <a:ext cx="137160" cy="137160"/>
          </a:xfrm>
          <a:prstGeom prst="roundRect">
            <a:avLst>
              <a:gd name="adj" fmla="val 23333"/>
            </a:avLst>
          </a:prstGeom>
          <a:solidFill>
            <a:srgbClr val="EAB308"/>
          </a:solidFill>
          <a:ln w="12700">
            <a:solidFill>
              <a:srgbClr val="EAB308"/>
            </a:solidFill>
            <a:prstDash val="solid"/>
          </a:ln>
        </p:spPr>
        <p:txBody>
          <a:bodyPr/>
          <a:lstStyle/>
          <a:p>
            <a:endParaRPr lang="en-US" sz="2400"/>
          </a:p>
        </p:txBody>
      </p:sp>
      <p:sp>
        <p:nvSpPr>
          <p:cNvPr id="3" name="Text 1"/>
          <p:cNvSpPr/>
          <p:nvPr/>
        </p:nvSpPr>
        <p:spPr>
          <a:xfrm>
            <a:off x="786384" y="329184"/>
            <a:ext cx="10820095" cy="274320"/>
          </a:xfrm>
          <a:prstGeom prst="rect">
            <a:avLst/>
          </a:prstGeom>
          <a:noFill/>
        </p:spPr>
        <p:txBody>
          <a:bodyPr wrap="square" lIns="0" tIns="0" rIns="0" bIns="0" rtlCol="0" anchor="ctr"/>
          <a:lstStyle/>
          <a:p>
            <a:pPr marL="0" indent="0">
              <a:buNone/>
            </a:pPr>
            <a:r>
              <a:rPr lang="en-US" sz="1400" b="1" kern="0" spc="160" dirty="0">
                <a:solidFill>
                  <a:srgbClr val="A16207"/>
                </a:solidFill>
                <a:latin typeface="Calibri" panose="020F0502020204030204" pitchFamily="34" charset="0"/>
                <a:ea typeface="Calibri" panose="020F0502020204030204" pitchFamily="34" charset="-122"/>
                <a:cs typeface="Calibri" panose="020F0502020204030204" pitchFamily="34" charset="-120"/>
              </a:rPr>
              <a:t>07 · HỆ THỐNG VẬN HÀNH RA SAO</a:t>
            </a:r>
            <a:endParaRPr lang="en-US" sz="1400" b="1" kern="0" spc="160" dirty="0">
              <a:solidFill>
                <a:srgbClr val="A16207"/>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Text 2"/>
          <p:cNvSpPr/>
          <p:nvPr/>
        </p:nvSpPr>
        <p:spPr>
          <a:xfrm>
            <a:off x="548640" y="640080"/>
            <a:ext cx="10607040" cy="566928"/>
          </a:xfrm>
          <a:prstGeom prst="rect">
            <a:avLst/>
          </a:prstGeom>
          <a:noFill/>
        </p:spPr>
        <p:txBody>
          <a:bodyPr wrap="square" lIns="0" tIns="0" rIns="0" bIns="0" rtlCol="0" anchor="t"/>
          <a:lstStyle/>
          <a:p>
            <a:pPr marL="0" indent="0">
              <a:buNone/>
            </a:pPr>
            <a:r>
              <a:rPr lang="en-US" sz="2500" b="1" dirty="0">
                <a:solidFill>
                  <a:srgbClr val="0F2A5C"/>
                </a:solidFill>
                <a:latin typeface="Calibri" panose="020F0502020204030204" pitchFamily="34" charset="0"/>
                <a:ea typeface="Calibri" panose="020F0502020204030204" pitchFamily="34" charset="-122"/>
                <a:cs typeface="Calibri" panose="020F0502020204030204" pitchFamily="34" charset="-120"/>
              </a:rPr>
              <a:t>Nhìn từ phía người dùng — ai làm gì, ở đâu</a:t>
            </a:r>
            <a:endParaRPr lang="en-US" sz="2500" b="1" dirty="0">
              <a:solidFill>
                <a:srgbClr val="0F2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5" name="Text 3"/>
          <p:cNvSpPr/>
          <p:nvPr/>
        </p:nvSpPr>
        <p:spPr>
          <a:xfrm>
            <a:off x="548640" y="1074420"/>
            <a:ext cx="10881360" cy="347472"/>
          </a:xfrm>
          <a:prstGeom prst="rect">
            <a:avLst/>
          </a:prstGeom>
          <a:noFill/>
        </p:spPr>
        <p:txBody>
          <a:bodyPr wrap="square" lIns="0" tIns="0" rIns="0" bIns="0" rtlCol="0" anchor="t"/>
          <a:lstStyle/>
          <a:p>
            <a:pPr marL="0" indent="0">
              <a:lnSpc>
                <a:spcPct val="115000"/>
              </a:lnSpc>
              <a:buNone/>
            </a:pPr>
            <a:r>
              <a:rPr lang="en-US" sz="1600" dirty="0">
                <a:solidFill>
                  <a:srgbClr val="45577A"/>
                </a:solidFill>
                <a:latin typeface="Calibri" panose="020F0502020204030204" pitchFamily="34" charset="0"/>
                <a:ea typeface="Calibri" panose="020F0502020204030204" pitchFamily="34" charset="-122"/>
                <a:cs typeface="Calibri" panose="020F0502020204030204" pitchFamily="34" charset="-120"/>
              </a:rPr>
              <a:t>Không đi vào chi tiết kỹ thuật — đây là cách từng người trong chuỗi của Unis sẽ dùng hệ thống hằng ngày:</a:t>
            </a:r>
            <a:endParaRPr lang="en-US" sz="16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Shape 4"/>
          <p:cNvSpPr/>
          <p:nvPr/>
        </p:nvSpPr>
        <p:spPr>
          <a:xfrm>
            <a:off x="548640" y="1692021"/>
            <a:ext cx="11094415" cy="2011680"/>
          </a:xfrm>
          <a:prstGeom prst="roundRect">
            <a:avLst>
              <a:gd name="adj" fmla="val 4091"/>
            </a:avLst>
          </a:prstGeom>
          <a:solidFill>
            <a:srgbClr val="F7F9FD"/>
          </a:solidFill>
          <a:ln w="12700">
            <a:solidFill>
              <a:srgbClr val="DDE5F0"/>
            </a:solidFill>
            <a:prstDash val="solid"/>
          </a:ln>
          <a:effectLst>
            <a:outerShdw blurRad="114300" dist="17780" dir="5400000" algn="bl" rotWithShape="0">
              <a:srgbClr val="0F2A5C">
                <a:alpha val="9000"/>
              </a:srgbClr>
            </a:outerShdw>
          </a:effectLst>
        </p:spPr>
        <p:txBody>
          <a:bodyPr/>
          <a:lstStyle/>
          <a:p>
            <a:endParaRPr lang="en-US" sz="2400"/>
          </a:p>
        </p:txBody>
      </p:sp>
      <p:sp>
        <p:nvSpPr>
          <p:cNvPr id="7" name="Text 5"/>
          <p:cNvSpPr/>
          <p:nvPr/>
        </p:nvSpPr>
        <p:spPr>
          <a:xfrm>
            <a:off x="804672" y="1874901"/>
            <a:ext cx="1867753" cy="219456"/>
          </a:xfrm>
          <a:prstGeom prst="rect">
            <a:avLst/>
          </a:prstGeom>
          <a:noFill/>
        </p:spPr>
        <p:txBody>
          <a:bodyPr wrap="square" lIns="0" tIns="0" rIns="0" bIns="0" rtlCol="0" anchor="ctr"/>
          <a:lstStyle/>
          <a:p>
            <a:pPr marL="0" indent="0" algn="ctr">
              <a:buNone/>
            </a:pPr>
            <a:r>
              <a:rPr lang="en-US" sz="1050" b="1" kern="0" spc="100" dirty="0">
                <a:solidFill>
                  <a:srgbClr val="8B99B5"/>
                </a:solidFill>
                <a:latin typeface="Calibri" panose="020F0502020204030204" pitchFamily="34" charset="0"/>
                <a:ea typeface="Calibri" panose="020F0502020204030204" pitchFamily="34" charset="-122"/>
                <a:cs typeface="Calibri" panose="020F0502020204030204" pitchFamily="34" charset="-120"/>
              </a:rPr>
              <a:t>KHÁCH / NPP</a:t>
            </a:r>
            <a:endParaRPr lang="en-US" sz="1050" b="1" kern="0" spc="10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Shape 6"/>
          <p:cNvSpPr/>
          <p:nvPr/>
        </p:nvSpPr>
        <p:spPr>
          <a:xfrm>
            <a:off x="804672" y="2149221"/>
            <a:ext cx="1867753" cy="475488"/>
          </a:xfrm>
          <a:prstGeom prst="roundRect">
            <a:avLst>
              <a:gd name="adj" fmla="val 17308"/>
            </a:avLst>
          </a:prstGeom>
          <a:solidFill>
            <a:srgbClr val="FDF6DF"/>
          </a:solidFill>
          <a:ln w="19050">
            <a:solidFill>
              <a:srgbClr val="EAB308"/>
            </a:solidFill>
            <a:prstDash val="solid"/>
          </a:ln>
        </p:spPr>
        <p:txBody>
          <a:bodyPr/>
          <a:lstStyle/>
          <a:p>
            <a:endParaRPr lang="en-US" sz="2400"/>
          </a:p>
        </p:txBody>
      </p:sp>
      <p:sp>
        <p:nvSpPr>
          <p:cNvPr id="9" name="Text 7"/>
          <p:cNvSpPr/>
          <p:nvPr/>
        </p:nvSpPr>
        <p:spPr>
          <a:xfrm>
            <a:off x="859536" y="2149221"/>
            <a:ext cx="1758025" cy="475488"/>
          </a:xfrm>
          <a:prstGeom prst="rect">
            <a:avLst/>
          </a:prstGeom>
          <a:noFill/>
        </p:spPr>
        <p:txBody>
          <a:bodyPr wrap="square" lIns="0" tIns="0" rIns="0" bIns="0" rtlCol="0" anchor="ctr"/>
          <a:lstStyle/>
          <a:p>
            <a:pPr marL="0" indent="0" algn="ctr">
              <a:buNone/>
            </a:pPr>
            <a:r>
              <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rPr>
              <a:t>App đặt hàng</a:t>
            </a:r>
            <a:endPar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Text 8"/>
          <p:cNvSpPr/>
          <p:nvPr/>
        </p:nvSpPr>
        <p:spPr>
          <a:xfrm>
            <a:off x="804672" y="2707005"/>
            <a:ext cx="1867753" cy="868680"/>
          </a:xfrm>
          <a:prstGeom prst="rect">
            <a:avLst/>
          </a:prstGeom>
          <a:noFill/>
        </p:spPr>
        <p:txBody>
          <a:bodyPr wrap="square" lIns="0" tIns="0" rIns="0" bIns="0" rtlCol="0" anchor="t"/>
          <a:lstStyle/>
          <a:p>
            <a:pPr marL="0" indent="0" algn="ctr">
              <a:lnSpc>
                <a:spcPct val="114000"/>
              </a:lnSpc>
              <a:buNone/>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Đặt đơn, xem tồn khả dụng, tự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tra</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hàng</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đến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đâu</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rồi</a:t>
            </a:r>
            <a:endPar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Text 9"/>
          <p:cNvSpPr/>
          <p:nvPr/>
        </p:nvSpPr>
        <p:spPr>
          <a:xfrm>
            <a:off x="2672425" y="2149221"/>
            <a:ext cx="310896" cy="475488"/>
          </a:xfrm>
          <a:prstGeom prst="rect">
            <a:avLst/>
          </a:prstGeom>
          <a:noFill/>
        </p:spPr>
        <p:txBody>
          <a:bodyPr wrap="square" lIns="0" tIns="0" rIns="0" bIns="0" rtlCol="0" anchor="ctr"/>
          <a:lstStyle/>
          <a:p>
            <a:pPr marL="0" indent="0" algn="ctr">
              <a:buNone/>
            </a:pPr>
            <a:r>
              <a:rPr lang="en-US" sz="2000" dirty="0">
                <a:solidFill>
                  <a:srgbClr val="B9C8E0"/>
                </a:solidFill>
                <a:latin typeface="Calibri" panose="020F0502020204030204" pitchFamily="34" charset="0"/>
                <a:ea typeface="Calibri" panose="020F0502020204030204" pitchFamily="34" charset="-122"/>
                <a:cs typeface="Calibri" panose="020F0502020204030204" pitchFamily="34" charset="-120"/>
              </a:rPr>
              <a:t>→</a:t>
            </a:r>
            <a:endParaRPr lang="en-US" sz="2000" dirty="0">
              <a:solidFill>
                <a:srgbClr val="B9C8E0"/>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Text 10"/>
          <p:cNvSpPr/>
          <p:nvPr/>
        </p:nvSpPr>
        <p:spPr>
          <a:xfrm>
            <a:off x="2983321" y="1874901"/>
            <a:ext cx="1867753" cy="219456"/>
          </a:xfrm>
          <a:prstGeom prst="rect">
            <a:avLst/>
          </a:prstGeom>
          <a:noFill/>
        </p:spPr>
        <p:txBody>
          <a:bodyPr wrap="square" lIns="0" tIns="0" rIns="0" bIns="0" rtlCol="0" anchor="ctr"/>
          <a:lstStyle/>
          <a:p>
            <a:pPr marL="0" indent="0" algn="ctr">
              <a:buNone/>
            </a:pPr>
            <a:r>
              <a:rPr lang="en-US" sz="1050" b="1" kern="0" spc="100" dirty="0">
                <a:solidFill>
                  <a:srgbClr val="8B99B5"/>
                </a:solidFill>
                <a:latin typeface="Calibri" panose="020F0502020204030204" pitchFamily="34" charset="0"/>
                <a:ea typeface="Calibri" panose="020F0502020204030204" pitchFamily="34" charset="-122"/>
                <a:cs typeface="Calibri" panose="020F0502020204030204" pitchFamily="34" charset="-120"/>
              </a:rPr>
              <a:t>SALES / ADMIN</a:t>
            </a:r>
            <a:endParaRPr lang="en-US" sz="1050" b="1" kern="0" spc="10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Shape 11"/>
          <p:cNvSpPr/>
          <p:nvPr/>
        </p:nvSpPr>
        <p:spPr>
          <a:xfrm>
            <a:off x="2983321" y="2149221"/>
            <a:ext cx="1867753" cy="475488"/>
          </a:xfrm>
          <a:prstGeom prst="roundRect">
            <a:avLst>
              <a:gd name="adj" fmla="val 17308"/>
            </a:avLst>
          </a:prstGeom>
          <a:solidFill>
            <a:srgbClr val="FDF6DF"/>
          </a:solidFill>
          <a:ln w="19050">
            <a:solidFill>
              <a:srgbClr val="EAB308"/>
            </a:solidFill>
            <a:prstDash val="solid"/>
          </a:ln>
        </p:spPr>
        <p:txBody>
          <a:bodyPr/>
          <a:lstStyle/>
          <a:p>
            <a:endParaRPr lang="en-US" sz="2400"/>
          </a:p>
        </p:txBody>
      </p:sp>
      <p:sp>
        <p:nvSpPr>
          <p:cNvPr id="14" name="Text 12"/>
          <p:cNvSpPr/>
          <p:nvPr/>
        </p:nvSpPr>
        <p:spPr>
          <a:xfrm>
            <a:off x="3038475" y="2149475"/>
            <a:ext cx="1758315" cy="556895"/>
          </a:xfrm>
          <a:prstGeom prst="rect">
            <a:avLst/>
          </a:prstGeom>
          <a:noFill/>
        </p:spPr>
        <p:txBody>
          <a:bodyPr wrap="square" lIns="0" tIns="0" rIns="0" bIns="0" rtlCol="0" anchor="ctr"/>
          <a:lstStyle/>
          <a:p>
            <a:pPr marL="0" indent="0" algn="ctr">
              <a:buNone/>
            </a:pPr>
            <a:r>
              <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rPr>
              <a:t>Màn hình đơn hàng</a:t>
            </a:r>
            <a:endPar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Text 13"/>
          <p:cNvSpPr/>
          <p:nvPr/>
        </p:nvSpPr>
        <p:spPr>
          <a:xfrm>
            <a:off x="2983321" y="2707005"/>
            <a:ext cx="1867753" cy="868680"/>
          </a:xfrm>
          <a:prstGeom prst="rect">
            <a:avLst/>
          </a:prstGeom>
          <a:noFill/>
        </p:spPr>
        <p:txBody>
          <a:bodyPr wrap="square" lIns="0" tIns="0" rIns="0" bIns="0" rtlCol="0" anchor="t"/>
          <a:lstStyle/>
          <a:p>
            <a:pPr marL="0" indent="0" algn="ctr">
              <a:lnSpc>
                <a:spcPct val="114000"/>
              </a:lnSpc>
              <a:buNone/>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Duyệt đơn, theo dõi trạng thái, cảnh báo đơn trễ</a:t>
            </a:r>
            <a:endPar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Text 14"/>
          <p:cNvSpPr/>
          <p:nvPr/>
        </p:nvSpPr>
        <p:spPr>
          <a:xfrm>
            <a:off x="4851075" y="2149221"/>
            <a:ext cx="310896" cy="475488"/>
          </a:xfrm>
          <a:prstGeom prst="rect">
            <a:avLst/>
          </a:prstGeom>
          <a:noFill/>
        </p:spPr>
        <p:txBody>
          <a:bodyPr wrap="square" lIns="0" tIns="0" rIns="0" bIns="0" rtlCol="0" anchor="ctr"/>
          <a:lstStyle/>
          <a:p>
            <a:pPr marL="0" indent="0" algn="ctr">
              <a:buNone/>
            </a:pPr>
            <a:r>
              <a:rPr lang="en-US" sz="2000" dirty="0">
                <a:solidFill>
                  <a:srgbClr val="B9C8E0"/>
                </a:solidFill>
                <a:latin typeface="Calibri" panose="020F0502020204030204" pitchFamily="34" charset="0"/>
                <a:ea typeface="Calibri" panose="020F0502020204030204" pitchFamily="34" charset="-122"/>
                <a:cs typeface="Calibri" panose="020F0502020204030204" pitchFamily="34" charset="-120"/>
              </a:rPr>
              <a:t>→</a:t>
            </a:r>
            <a:endParaRPr lang="en-US" sz="2000" dirty="0">
              <a:solidFill>
                <a:srgbClr val="B9C8E0"/>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Text 15"/>
          <p:cNvSpPr/>
          <p:nvPr/>
        </p:nvSpPr>
        <p:spPr>
          <a:xfrm>
            <a:off x="5161971" y="1874901"/>
            <a:ext cx="1867753" cy="219456"/>
          </a:xfrm>
          <a:prstGeom prst="rect">
            <a:avLst/>
          </a:prstGeom>
          <a:noFill/>
        </p:spPr>
        <p:txBody>
          <a:bodyPr wrap="square" lIns="0" tIns="0" rIns="0" bIns="0" rtlCol="0" anchor="ctr"/>
          <a:lstStyle/>
          <a:p>
            <a:pPr marL="0" indent="0" algn="ctr">
              <a:buNone/>
            </a:pPr>
            <a:r>
              <a:rPr lang="en-US" sz="1050" b="1" kern="0" spc="100" dirty="0">
                <a:solidFill>
                  <a:srgbClr val="8B99B5"/>
                </a:solidFill>
                <a:latin typeface="Calibri" panose="020F0502020204030204" pitchFamily="34" charset="0"/>
                <a:ea typeface="Calibri" panose="020F0502020204030204" pitchFamily="34" charset="-122"/>
                <a:cs typeface="Calibri" panose="020F0502020204030204" pitchFamily="34" charset="-120"/>
              </a:rPr>
              <a:t>NHÂN VIÊN KHO</a:t>
            </a:r>
            <a:endParaRPr lang="en-US" sz="1050" b="1" kern="0" spc="10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Shape 16"/>
          <p:cNvSpPr/>
          <p:nvPr/>
        </p:nvSpPr>
        <p:spPr>
          <a:xfrm>
            <a:off x="5161915" y="2149475"/>
            <a:ext cx="1867535" cy="474980"/>
          </a:xfrm>
          <a:prstGeom prst="roundRect">
            <a:avLst>
              <a:gd name="adj" fmla="val 17308"/>
            </a:avLst>
          </a:prstGeom>
          <a:solidFill>
            <a:srgbClr val="FDF6DF"/>
          </a:solidFill>
          <a:ln w="19050">
            <a:solidFill>
              <a:srgbClr val="EAB308"/>
            </a:solidFill>
            <a:prstDash val="solid"/>
          </a:ln>
        </p:spPr>
        <p:txBody>
          <a:bodyPr/>
          <a:lstStyle/>
          <a:p>
            <a:endParaRPr lang="en-US" sz="2400"/>
          </a:p>
        </p:txBody>
      </p:sp>
      <p:sp>
        <p:nvSpPr>
          <p:cNvPr id="19" name="Text 17"/>
          <p:cNvSpPr/>
          <p:nvPr/>
        </p:nvSpPr>
        <p:spPr>
          <a:xfrm>
            <a:off x="5216835" y="2149221"/>
            <a:ext cx="1758025" cy="475488"/>
          </a:xfrm>
          <a:prstGeom prst="rect">
            <a:avLst/>
          </a:prstGeom>
          <a:noFill/>
        </p:spPr>
        <p:txBody>
          <a:bodyPr wrap="square" lIns="0" tIns="0" rIns="0" bIns="0" rtlCol="0" anchor="ctr"/>
          <a:lstStyle/>
          <a:p>
            <a:pPr marL="0" indent="0" algn="ctr">
              <a:buNone/>
            </a:pPr>
            <a:r>
              <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rPr>
              <a:t>Máy quét </a:t>
            </a:r>
            <a:endPar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rPr>
              <a:t>+ màn hình kho</a:t>
            </a:r>
            <a:endPar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20" name="Text 18"/>
          <p:cNvSpPr/>
          <p:nvPr/>
        </p:nvSpPr>
        <p:spPr>
          <a:xfrm>
            <a:off x="5161971" y="2707005"/>
            <a:ext cx="1867753" cy="868680"/>
          </a:xfrm>
          <a:prstGeom prst="rect">
            <a:avLst/>
          </a:prstGeom>
          <a:noFill/>
        </p:spPr>
        <p:txBody>
          <a:bodyPr wrap="square" lIns="0" tIns="0" rIns="0" bIns="0" rtlCol="0" anchor="t"/>
          <a:lstStyle/>
          <a:p>
            <a:pPr marL="0" indent="0" algn="ctr">
              <a:lnSpc>
                <a:spcPct val="114000"/>
              </a:lnSpc>
              <a:buNone/>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Nhập – xuất – kiểm kê, tồn kho khớp thực tế</a:t>
            </a:r>
            <a:endPar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Text 19"/>
          <p:cNvSpPr/>
          <p:nvPr/>
        </p:nvSpPr>
        <p:spPr>
          <a:xfrm>
            <a:off x="7029724" y="2149221"/>
            <a:ext cx="310896" cy="475488"/>
          </a:xfrm>
          <a:prstGeom prst="rect">
            <a:avLst/>
          </a:prstGeom>
          <a:noFill/>
        </p:spPr>
        <p:txBody>
          <a:bodyPr wrap="square" lIns="0" tIns="0" rIns="0" bIns="0" rtlCol="0" anchor="ctr"/>
          <a:lstStyle/>
          <a:p>
            <a:pPr marL="0" indent="0" algn="ctr">
              <a:buNone/>
            </a:pPr>
            <a:r>
              <a:rPr lang="en-US" sz="2000" dirty="0">
                <a:solidFill>
                  <a:srgbClr val="B9C8E0"/>
                </a:solidFill>
                <a:latin typeface="Calibri" panose="020F0502020204030204" pitchFamily="34" charset="0"/>
                <a:ea typeface="Calibri" panose="020F0502020204030204" pitchFamily="34" charset="-122"/>
                <a:cs typeface="Calibri" panose="020F0502020204030204" pitchFamily="34" charset="-120"/>
              </a:rPr>
              <a:t>→</a:t>
            </a:r>
            <a:endParaRPr lang="en-US" sz="2000" dirty="0">
              <a:solidFill>
                <a:srgbClr val="B9C8E0"/>
              </a:solidFill>
              <a:latin typeface="Calibri" panose="020F0502020204030204" pitchFamily="34" charset="0"/>
              <a:ea typeface="Calibri" panose="020F0502020204030204" pitchFamily="34" charset="-122"/>
              <a:cs typeface="Calibri" panose="020F0502020204030204" pitchFamily="34" charset="-120"/>
            </a:endParaRPr>
          </a:p>
        </p:txBody>
      </p:sp>
      <p:sp>
        <p:nvSpPr>
          <p:cNvPr id="22" name="Text 20"/>
          <p:cNvSpPr/>
          <p:nvPr/>
        </p:nvSpPr>
        <p:spPr>
          <a:xfrm>
            <a:off x="7340620" y="1874901"/>
            <a:ext cx="1867753" cy="219456"/>
          </a:xfrm>
          <a:prstGeom prst="rect">
            <a:avLst/>
          </a:prstGeom>
          <a:noFill/>
        </p:spPr>
        <p:txBody>
          <a:bodyPr wrap="square" lIns="0" tIns="0" rIns="0" bIns="0" rtlCol="0" anchor="ctr"/>
          <a:lstStyle/>
          <a:p>
            <a:pPr marL="0" indent="0" algn="ctr">
              <a:buNone/>
            </a:pPr>
            <a:r>
              <a:rPr lang="en-US" sz="1050" b="1" kern="0" spc="100" dirty="0">
                <a:solidFill>
                  <a:srgbClr val="8B99B5"/>
                </a:solidFill>
                <a:latin typeface="Calibri" panose="020F0502020204030204" pitchFamily="34" charset="0"/>
                <a:ea typeface="Calibri" panose="020F0502020204030204" pitchFamily="34" charset="-122"/>
                <a:cs typeface="Calibri" panose="020F0502020204030204" pitchFamily="34" charset="-120"/>
              </a:rPr>
              <a:t>ĐIỀU VẬN</a:t>
            </a:r>
            <a:endParaRPr lang="en-US" sz="1050" b="1" kern="0" spc="10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23" name="Shape 21"/>
          <p:cNvSpPr/>
          <p:nvPr/>
        </p:nvSpPr>
        <p:spPr>
          <a:xfrm>
            <a:off x="7340620" y="2149221"/>
            <a:ext cx="1867753" cy="475488"/>
          </a:xfrm>
          <a:prstGeom prst="roundRect">
            <a:avLst>
              <a:gd name="adj" fmla="val 17308"/>
            </a:avLst>
          </a:prstGeom>
          <a:solidFill>
            <a:srgbClr val="FDF6DF"/>
          </a:solidFill>
          <a:ln w="19050">
            <a:solidFill>
              <a:srgbClr val="EAB308"/>
            </a:solidFill>
            <a:prstDash val="solid"/>
          </a:ln>
        </p:spPr>
        <p:txBody>
          <a:bodyPr/>
          <a:lstStyle/>
          <a:p>
            <a:endParaRPr lang="en-US" sz="2400"/>
          </a:p>
        </p:txBody>
      </p:sp>
      <p:sp>
        <p:nvSpPr>
          <p:cNvPr id="24" name="Text 22"/>
          <p:cNvSpPr/>
          <p:nvPr/>
        </p:nvSpPr>
        <p:spPr>
          <a:xfrm>
            <a:off x="7395484" y="2149221"/>
            <a:ext cx="1758025" cy="475488"/>
          </a:xfrm>
          <a:prstGeom prst="rect">
            <a:avLst/>
          </a:prstGeom>
          <a:noFill/>
        </p:spPr>
        <p:txBody>
          <a:bodyPr wrap="square" lIns="0" tIns="0" rIns="0" bIns="0" rtlCol="0" anchor="ctr"/>
          <a:lstStyle/>
          <a:p>
            <a:pPr marL="0" indent="0" algn="ctr">
              <a:buNone/>
            </a:pPr>
            <a:r>
              <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rPr>
              <a:t>Bảng điều phối</a:t>
            </a:r>
            <a:endPar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25" name="Text 23"/>
          <p:cNvSpPr/>
          <p:nvPr/>
        </p:nvSpPr>
        <p:spPr>
          <a:xfrm>
            <a:off x="7340620" y="2707005"/>
            <a:ext cx="1867753" cy="868680"/>
          </a:xfrm>
          <a:prstGeom prst="rect">
            <a:avLst/>
          </a:prstGeom>
          <a:noFill/>
        </p:spPr>
        <p:txBody>
          <a:bodyPr wrap="square" lIns="0" tIns="0" rIns="0" bIns="0" rtlCol="0" anchor="t"/>
          <a:lstStyle/>
          <a:p>
            <a:pPr marL="0" indent="0" algn="ctr">
              <a:lnSpc>
                <a:spcPct val="114000"/>
              </a:lnSpc>
              <a:buNone/>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Gán chuyến tự động, ghép chuyến, theo dõi xe qua GPS</a:t>
            </a:r>
            <a:endPar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26" name="Text 24"/>
          <p:cNvSpPr/>
          <p:nvPr/>
        </p:nvSpPr>
        <p:spPr>
          <a:xfrm>
            <a:off x="9208374" y="2149221"/>
            <a:ext cx="310896" cy="475488"/>
          </a:xfrm>
          <a:prstGeom prst="rect">
            <a:avLst/>
          </a:prstGeom>
          <a:noFill/>
        </p:spPr>
        <p:txBody>
          <a:bodyPr wrap="square" lIns="0" tIns="0" rIns="0" bIns="0" rtlCol="0" anchor="ctr"/>
          <a:lstStyle/>
          <a:p>
            <a:pPr marL="0" indent="0" algn="ctr">
              <a:buNone/>
            </a:pPr>
            <a:r>
              <a:rPr lang="en-US" sz="2000" dirty="0">
                <a:solidFill>
                  <a:srgbClr val="B9C8E0"/>
                </a:solidFill>
                <a:latin typeface="Calibri" panose="020F0502020204030204" pitchFamily="34" charset="0"/>
                <a:ea typeface="Calibri" panose="020F0502020204030204" pitchFamily="34" charset="-122"/>
                <a:cs typeface="Calibri" panose="020F0502020204030204" pitchFamily="34" charset="-120"/>
              </a:rPr>
              <a:t>→</a:t>
            </a:r>
            <a:endParaRPr lang="en-US" sz="2000" dirty="0">
              <a:solidFill>
                <a:srgbClr val="B9C8E0"/>
              </a:solidFill>
              <a:latin typeface="Calibri" panose="020F0502020204030204" pitchFamily="34" charset="0"/>
              <a:ea typeface="Calibri" panose="020F0502020204030204" pitchFamily="34" charset="-122"/>
              <a:cs typeface="Calibri" panose="020F0502020204030204" pitchFamily="34" charset="-120"/>
            </a:endParaRPr>
          </a:p>
        </p:txBody>
      </p:sp>
      <p:sp>
        <p:nvSpPr>
          <p:cNvPr id="27" name="Text 25"/>
          <p:cNvSpPr/>
          <p:nvPr/>
        </p:nvSpPr>
        <p:spPr>
          <a:xfrm>
            <a:off x="9519270" y="1874901"/>
            <a:ext cx="1867753" cy="219456"/>
          </a:xfrm>
          <a:prstGeom prst="rect">
            <a:avLst/>
          </a:prstGeom>
          <a:noFill/>
        </p:spPr>
        <p:txBody>
          <a:bodyPr wrap="square" lIns="0" tIns="0" rIns="0" bIns="0" rtlCol="0" anchor="ctr"/>
          <a:lstStyle/>
          <a:p>
            <a:pPr marL="0" indent="0" algn="ctr">
              <a:buNone/>
            </a:pPr>
            <a:r>
              <a:rPr lang="en-US" sz="1050" b="1" kern="0" spc="100" dirty="0">
                <a:solidFill>
                  <a:srgbClr val="8B99B5"/>
                </a:solidFill>
                <a:latin typeface="Calibri" panose="020F0502020204030204" pitchFamily="34" charset="0"/>
                <a:ea typeface="Calibri" panose="020F0502020204030204" pitchFamily="34" charset="-122"/>
                <a:cs typeface="Calibri" panose="020F0502020204030204" pitchFamily="34" charset="-120"/>
              </a:rPr>
              <a:t>TÀI XẾ</a:t>
            </a:r>
            <a:endParaRPr lang="en-US" sz="1050" b="1" kern="0" spc="10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28" name="Shape 26"/>
          <p:cNvSpPr/>
          <p:nvPr/>
        </p:nvSpPr>
        <p:spPr>
          <a:xfrm>
            <a:off x="9519270" y="2149221"/>
            <a:ext cx="1867753" cy="475488"/>
          </a:xfrm>
          <a:prstGeom prst="roundRect">
            <a:avLst>
              <a:gd name="adj" fmla="val 17308"/>
            </a:avLst>
          </a:prstGeom>
          <a:solidFill>
            <a:srgbClr val="FDF6DF"/>
          </a:solidFill>
          <a:ln w="19050">
            <a:solidFill>
              <a:srgbClr val="EAB308"/>
            </a:solidFill>
            <a:prstDash val="solid"/>
          </a:ln>
        </p:spPr>
        <p:txBody>
          <a:bodyPr/>
          <a:lstStyle/>
          <a:p>
            <a:endParaRPr lang="en-US" sz="2400"/>
          </a:p>
        </p:txBody>
      </p:sp>
      <p:sp>
        <p:nvSpPr>
          <p:cNvPr id="29" name="Text 27"/>
          <p:cNvSpPr/>
          <p:nvPr/>
        </p:nvSpPr>
        <p:spPr>
          <a:xfrm>
            <a:off x="9574134" y="2149221"/>
            <a:ext cx="1758025" cy="475488"/>
          </a:xfrm>
          <a:prstGeom prst="rect">
            <a:avLst/>
          </a:prstGeom>
          <a:noFill/>
        </p:spPr>
        <p:txBody>
          <a:bodyPr wrap="square" lIns="0" tIns="0" rIns="0" bIns="0" rtlCol="0" anchor="ctr"/>
          <a:lstStyle/>
          <a:p>
            <a:pPr marL="0" indent="0" algn="ctr">
              <a:buNone/>
            </a:pPr>
            <a:r>
              <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rPr>
              <a:t>App tài xế</a:t>
            </a:r>
            <a:endPar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30" name="Text 28"/>
          <p:cNvSpPr/>
          <p:nvPr/>
        </p:nvSpPr>
        <p:spPr>
          <a:xfrm>
            <a:off x="9519270" y="2707005"/>
            <a:ext cx="1867753" cy="868680"/>
          </a:xfrm>
          <a:prstGeom prst="rect">
            <a:avLst/>
          </a:prstGeom>
          <a:noFill/>
        </p:spPr>
        <p:txBody>
          <a:bodyPr wrap="square" lIns="0" tIns="0" rIns="0" bIns="0" rtlCol="0" anchor="t"/>
          <a:lstStyle/>
          <a:p>
            <a:pPr marL="0" indent="0" algn="ctr">
              <a:lnSpc>
                <a:spcPct val="114000"/>
              </a:lnSpc>
              <a:buNone/>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Nhận chuyến, chỉ đường, chụp ảnh ký nhận,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chốt</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chuyến</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a:t>
            </a:r>
            <a:r>
              <a:rPr lang="en-US" sz="1400" dirty="0" err="1">
                <a:solidFill>
                  <a:srgbClr val="45577A"/>
                </a:solidFill>
                <a:latin typeface="Calibri" panose="020F0502020204030204" pitchFamily="34" charset="0"/>
                <a:ea typeface="Calibri" panose="020F0502020204030204" pitchFamily="34" charset="-122"/>
                <a:cs typeface="Calibri" panose="020F0502020204030204" pitchFamily="34" charset="-120"/>
              </a:rPr>
              <a:t>tự</a:t>
            </a: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 tính cước</a:t>
            </a:r>
            <a:endPar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31" name="Shape 29"/>
          <p:cNvSpPr/>
          <p:nvPr/>
        </p:nvSpPr>
        <p:spPr>
          <a:xfrm>
            <a:off x="548640" y="3924681"/>
            <a:ext cx="11094415" cy="2011680"/>
          </a:xfrm>
          <a:prstGeom prst="roundRect">
            <a:avLst>
              <a:gd name="adj" fmla="val 4091"/>
            </a:avLst>
          </a:prstGeom>
          <a:solidFill>
            <a:srgbClr val="F7F9FD"/>
          </a:solidFill>
          <a:ln w="12700">
            <a:solidFill>
              <a:srgbClr val="DDE5F0"/>
            </a:solidFill>
            <a:prstDash val="solid"/>
          </a:ln>
          <a:effectLst>
            <a:outerShdw blurRad="114300" dist="17780" dir="5400000" algn="bl" rotWithShape="0">
              <a:srgbClr val="0F2A5C">
                <a:alpha val="9000"/>
              </a:srgbClr>
            </a:outerShdw>
          </a:effectLst>
        </p:spPr>
        <p:txBody>
          <a:bodyPr/>
          <a:lstStyle/>
          <a:p>
            <a:endParaRPr lang="en-US" sz="2400"/>
          </a:p>
        </p:txBody>
      </p:sp>
      <p:sp>
        <p:nvSpPr>
          <p:cNvPr id="32" name="Text 30"/>
          <p:cNvSpPr/>
          <p:nvPr/>
        </p:nvSpPr>
        <p:spPr>
          <a:xfrm>
            <a:off x="804672" y="4107561"/>
            <a:ext cx="3204362" cy="219456"/>
          </a:xfrm>
          <a:prstGeom prst="rect">
            <a:avLst/>
          </a:prstGeom>
          <a:noFill/>
        </p:spPr>
        <p:txBody>
          <a:bodyPr wrap="square" lIns="0" tIns="0" rIns="0" bIns="0" rtlCol="0" anchor="ctr"/>
          <a:lstStyle/>
          <a:p>
            <a:pPr marL="0" indent="0" algn="ctr">
              <a:buNone/>
            </a:pPr>
            <a:r>
              <a:rPr lang="en-US" sz="1050" b="1" kern="0" spc="100" dirty="0">
                <a:solidFill>
                  <a:srgbClr val="8B99B5"/>
                </a:solidFill>
                <a:latin typeface="Calibri" panose="020F0502020204030204" pitchFamily="34" charset="0"/>
                <a:ea typeface="Calibri" panose="020F0502020204030204" pitchFamily="34" charset="-122"/>
                <a:cs typeface="Calibri" panose="020F0502020204030204" pitchFamily="34" charset="-120"/>
              </a:rPr>
              <a:t>KẾ TOÁN</a:t>
            </a:r>
            <a:endParaRPr lang="en-US" sz="1050" b="1" kern="0" spc="10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33" name="Shape 31"/>
          <p:cNvSpPr/>
          <p:nvPr/>
        </p:nvSpPr>
        <p:spPr>
          <a:xfrm>
            <a:off x="804672" y="4381881"/>
            <a:ext cx="3204362" cy="475488"/>
          </a:xfrm>
          <a:prstGeom prst="roundRect">
            <a:avLst>
              <a:gd name="adj" fmla="val 17308"/>
            </a:avLst>
          </a:prstGeom>
          <a:solidFill>
            <a:srgbClr val="FFFFFF"/>
          </a:solidFill>
          <a:ln w="19050">
            <a:solidFill>
              <a:srgbClr val="B9C8E0"/>
            </a:solidFill>
            <a:prstDash val="solid"/>
          </a:ln>
        </p:spPr>
        <p:txBody>
          <a:bodyPr/>
          <a:lstStyle/>
          <a:p>
            <a:endParaRPr lang="en-US" sz="2400"/>
          </a:p>
        </p:txBody>
      </p:sp>
      <p:sp>
        <p:nvSpPr>
          <p:cNvPr id="34" name="Text 32"/>
          <p:cNvSpPr/>
          <p:nvPr/>
        </p:nvSpPr>
        <p:spPr>
          <a:xfrm>
            <a:off x="859536" y="4381881"/>
            <a:ext cx="3094634" cy="475488"/>
          </a:xfrm>
          <a:prstGeom prst="rect">
            <a:avLst/>
          </a:prstGeom>
          <a:noFill/>
        </p:spPr>
        <p:txBody>
          <a:bodyPr wrap="square" lIns="0" tIns="0" rIns="0" bIns="0" rtlCol="0" anchor="ctr"/>
          <a:lstStyle/>
          <a:p>
            <a:pPr marL="0" indent="0" algn="ctr">
              <a:buNone/>
            </a:pPr>
            <a:r>
              <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rPr>
              <a:t>Bravo (giữ nguyên)</a:t>
            </a:r>
            <a:endPar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35" name="Text 33"/>
          <p:cNvSpPr/>
          <p:nvPr/>
        </p:nvSpPr>
        <p:spPr>
          <a:xfrm>
            <a:off x="804672" y="4939665"/>
            <a:ext cx="3204362" cy="868680"/>
          </a:xfrm>
          <a:prstGeom prst="rect">
            <a:avLst/>
          </a:prstGeom>
          <a:noFill/>
        </p:spPr>
        <p:txBody>
          <a:bodyPr wrap="square" lIns="0" tIns="0" rIns="0" bIns="0" rtlCol="0" anchor="t"/>
          <a:lstStyle/>
          <a:p>
            <a:pPr marL="0" indent="0" algn="ctr">
              <a:lnSpc>
                <a:spcPct val="114000"/>
              </a:lnSpc>
              <a:buNone/>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Hệ thống nối 2 chiều với Bravo — kế toán không phải nhập lại số liệu</a:t>
            </a:r>
            <a:endPar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36" name="Text 34"/>
          <p:cNvSpPr/>
          <p:nvPr/>
        </p:nvSpPr>
        <p:spPr>
          <a:xfrm>
            <a:off x="4009034" y="4381881"/>
            <a:ext cx="484632" cy="475488"/>
          </a:xfrm>
          <a:prstGeom prst="rect">
            <a:avLst/>
          </a:prstGeom>
          <a:noFill/>
        </p:spPr>
        <p:txBody>
          <a:bodyPr wrap="square" lIns="0" tIns="0" rIns="0" bIns="0" rtlCol="0" anchor="ctr"/>
          <a:lstStyle/>
          <a:p>
            <a:pPr marL="0" indent="0" algn="ctr">
              <a:buNone/>
            </a:pPr>
            <a:r>
              <a:rPr lang="en-US" sz="2000" dirty="0">
                <a:solidFill>
                  <a:srgbClr val="B9C8E0"/>
                </a:solidFill>
                <a:latin typeface="Calibri" panose="020F0502020204030204" pitchFamily="34" charset="0"/>
                <a:ea typeface="Calibri" panose="020F0502020204030204" pitchFamily="34" charset="-122"/>
                <a:cs typeface="Calibri" panose="020F0502020204030204" pitchFamily="34" charset="-120"/>
              </a:rPr>
              <a:t>↔</a:t>
            </a:r>
            <a:endParaRPr lang="en-US" sz="2000" dirty="0">
              <a:solidFill>
                <a:srgbClr val="B9C8E0"/>
              </a:solidFill>
              <a:latin typeface="Calibri" panose="020F0502020204030204" pitchFamily="34" charset="0"/>
              <a:ea typeface="Calibri" panose="020F0502020204030204" pitchFamily="34" charset="-122"/>
              <a:cs typeface="Calibri" panose="020F0502020204030204" pitchFamily="34" charset="-120"/>
            </a:endParaRPr>
          </a:p>
        </p:txBody>
      </p:sp>
      <p:sp>
        <p:nvSpPr>
          <p:cNvPr id="37" name="Text 35"/>
          <p:cNvSpPr/>
          <p:nvPr/>
        </p:nvSpPr>
        <p:spPr>
          <a:xfrm>
            <a:off x="4493666" y="4107561"/>
            <a:ext cx="3204362" cy="219456"/>
          </a:xfrm>
          <a:prstGeom prst="rect">
            <a:avLst/>
          </a:prstGeom>
          <a:noFill/>
        </p:spPr>
        <p:txBody>
          <a:bodyPr wrap="square" lIns="0" tIns="0" rIns="0" bIns="0" rtlCol="0" anchor="ctr"/>
          <a:lstStyle/>
          <a:p>
            <a:pPr marL="0" indent="0" algn="ctr">
              <a:buNone/>
            </a:pPr>
            <a:r>
              <a:rPr lang="en-US" sz="1050" b="1" kern="0" spc="100" dirty="0">
                <a:solidFill>
                  <a:srgbClr val="8B99B5"/>
                </a:solidFill>
                <a:latin typeface="Calibri" panose="020F0502020204030204" pitchFamily="34" charset="0"/>
                <a:ea typeface="Calibri" panose="020F0502020204030204" pitchFamily="34" charset="-122"/>
                <a:cs typeface="Calibri" panose="020F0502020204030204" pitchFamily="34" charset="-120"/>
              </a:rPr>
              <a:t>BAN LÃNH ĐẠO</a:t>
            </a:r>
            <a:endParaRPr lang="en-US" sz="1050" b="1" kern="0" spc="10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38" name="Shape 36"/>
          <p:cNvSpPr/>
          <p:nvPr/>
        </p:nvSpPr>
        <p:spPr>
          <a:xfrm>
            <a:off x="4493666" y="4381881"/>
            <a:ext cx="3204362" cy="475488"/>
          </a:xfrm>
          <a:prstGeom prst="roundRect">
            <a:avLst>
              <a:gd name="adj" fmla="val 17308"/>
            </a:avLst>
          </a:prstGeom>
          <a:solidFill>
            <a:srgbClr val="FFFFFF"/>
          </a:solidFill>
          <a:ln w="19050">
            <a:solidFill>
              <a:srgbClr val="B9C8E0"/>
            </a:solidFill>
            <a:prstDash val="solid"/>
          </a:ln>
        </p:spPr>
        <p:txBody>
          <a:bodyPr/>
          <a:lstStyle/>
          <a:p>
            <a:endParaRPr lang="en-US" sz="2400"/>
          </a:p>
        </p:txBody>
      </p:sp>
      <p:sp>
        <p:nvSpPr>
          <p:cNvPr id="39" name="Text 37"/>
          <p:cNvSpPr/>
          <p:nvPr/>
        </p:nvSpPr>
        <p:spPr>
          <a:xfrm>
            <a:off x="4548530" y="4381881"/>
            <a:ext cx="3094634" cy="475488"/>
          </a:xfrm>
          <a:prstGeom prst="rect">
            <a:avLst/>
          </a:prstGeom>
          <a:noFill/>
        </p:spPr>
        <p:txBody>
          <a:bodyPr wrap="square" lIns="0" tIns="0" rIns="0" bIns="0" rtlCol="0" anchor="ctr"/>
          <a:lstStyle/>
          <a:p>
            <a:pPr marL="0" indent="0" algn="ctr">
              <a:buNone/>
            </a:pPr>
            <a:r>
              <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rPr>
              <a:t>Dashboard tổng hợp</a:t>
            </a:r>
            <a:endPar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40" name="Text 38"/>
          <p:cNvSpPr/>
          <p:nvPr/>
        </p:nvSpPr>
        <p:spPr>
          <a:xfrm>
            <a:off x="4493666" y="4939665"/>
            <a:ext cx="3204362" cy="868680"/>
          </a:xfrm>
          <a:prstGeom prst="rect">
            <a:avLst/>
          </a:prstGeom>
          <a:noFill/>
        </p:spPr>
        <p:txBody>
          <a:bodyPr wrap="square" lIns="0" tIns="0" rIns="0" bIns="0" rtlCol="0" anchor="t"/>
          <a:lstStyle/>
          <a:p>
            <a:pPr marL="0" indent="0" algn="ctr">
              <a:lnSpc>
                <a:spcPct val="114000"/>
              </a:lnSpc>
              <a:buNone/>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Tồn kho, chi phí giao hàng, tỷ lệ đúng hẹn — xem theo ngày thay vì chờ báo cáo cuối tháng</a:t>
            </a:r>
            <a:endPar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41" name="Text 39"/>
          <p:cNvSpPr/>
          <p:nvPr/>
        </p:nvSpPr>
        <p:spPr>
          <a:xfrm>
            <a:off x="7698029" y="4381881"/>
            <a:ext cx="484632" cy="475488"/>
          </a:xfrm>
          <a:prstGeom prst="rect">
            <a:avLst/>
          </a:prstGeom>
          <a:noFill/>
        </p:spPr>
        <p:txBody>
          <a:bodyPr wrap="square" lIns="0" tIns="0" rIns="0" bIns="0" rtlCol="0" anchor="ctr"/>
          <a:lstStyle/>
          <a:p>
            <a:pPr marL="0" indent="0" algn="ctr">
              <a:buNone/>
            </a:pPr>
            <a:r>
              <a:rPr lang="en-US" sz="2000" dirty="0">
                <a:solidFill>
                  <a:srgbClr val="B9C8E0"/>
                </a:solidFill>
                <a:latin typeface="Calibri" panose="020F0502020204030204" pitchFamily="34" charset="0"/>
                <a:ea typeface="Calibri" panose="020F0502020204030204" pitchFamily="34" charset="-122"/>
                <a:cs typeface="Calibri" panose="020F0502020204030204" pitchFamily="34" charset="-120"/>
              </a:rPr>
              <a:t>↔</a:t>
            </a:r>
            <a:endParaRPr lang="en-US" sz="2000" dirty="0">
              <a:solidFill>
                <a:srgbClr val="B9C8E0"/>
              </a:solidFill>
              <a:latin typeface="Calibri" panose="020F0502020204030204" pitchFamily="34" charset="0"/>
              <a:ea typeface="Calibri" panose="020F0502020204030204" pitchFamily="34" charset="-122"/>
              <a:cs typeface="Calibri" panose="020F0502020204030204" pitchFamily="34" charset="-120"/>
            </a:endParaRPr>
          </a:p>
        </p:txBody>
      </p:sp>
      <p:sp>
        <p:nvSpPr>
          <p:cNvPr id="42" name="Text 40"/>
          <p:cNvSpPr/>
          <p:nvPr/>
        </p:nvSpPr>
        <p:spPr>
          <a:xfrm>
            <a:off x="8182661" y="4107561"/>
            <a:ext cx="3204362" cy="219456"/>
          </a:xfrm>
          <a:prstGeom prst="rect">
            <a:avLst/>
          </a:prstGeom>
          <a:noFill/>
        </p:spPr>
        <p:txBody>
          <a:bodyPr wrap="square" lIns="0" tIns="0" rIns="0" bIns="0" rtlCol="0" anchor="ctr"/>
          <a:lstStyle/>
          <a:p>
            <a:pPr marL="0" indent="0" algn="ctr">
              <a:buNone/>
            </a:pPr>
            <a:r>
              <a:rPr lang="en-US" sz="1050" b="1" kern="0" spc="100" dirty="0">
                <a:solidFill>
                  <a:srgbClr val="8B99B5"/>
                </a:solidFill>
                <a:latin typeface="Calibri" panose="020F0502020204030204" pitchFamily="34" charset="0"/>
                <a:ea typeface="Calibri" panose="020F0502020204030204" pitchFamily="34" charset="-122"/>
                <a:cs typeface="Calibri" panose="020F0502020204030204" pitchFamily="34" charset="-120"/>
              </a:rPr>
              <a:t>ĐỘI XE / NHÀ THẦU</a:t>
            </a:r>
            <a:endParaRPr lang="en-US" sz="1050" b="1" kern="0" spc="10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43" name="Shape 41"/>
          <p:cNvSpPr/>
          <p:nvPr/>
        </p:nvSpPr>
        <p:spPr>
          <a:xfrm>
            <a:off x="8182661" y="4381881"/>
            <a:ext cx="3204362" cy="475488"/>
          </a:xfrm>
          <a:prstGeom prst="roundRect">
            <a:avLst>
              <a:gd name="adj" fmla="val 17308"/>
            </a:avLst>
          </a:prstGeom>
          <a:solidFill>
            <a:srgbClr val="FFFFFF"/>
          </a:solidFill>
          <a:ln w="19050">
            <a:solidFill>
              <a:srgbClr val="B9C8E0"/>
            </a:solidFill>
            <a:prstDash val="solid"/>
          </a:ln>
        </p:spPr>
        <p:txBody>
          <a:bodyPr/>
          <a:lstStyle/>
          <a:p>
            <a:endParaRPr lang="en-US" sz="2400"/>
          </a:p>
        </p:txBody>
      </p:sp>
      <p:sp>
        <p:nvSpPr>
          <p:cNvPr id="44" name="Text 42"/>
          <p:cNvSpPr/>
          <p:nvPr/>
        </p:nvSpPr>
        <p:spPr>
          <a:xfrm>
            <a:off x="8237525" y="4381881"/>
            <a:ext cx="3094634" cy="475488"/>
          </a:xfrm>
          <a:prstGeom prst="rect">
            <a:avLst/>
          </a:prstGeom>
          <a:noFill/>
        </p:spPr>
        <p:txBody>
          <a:bodyPr wrap="square" lIns="0" tIns="0" rIns="0" bIns="0" rtlCol="0" anchor="ctr"/>
          <a:lstStyle/>
          <a:p>
            <a:pPr marL="0" indent="0" algn="ctr">
              <a:buNone/>
            </a:pPr>
            <a:r>
              <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rPr>
              <a:t>Đối soát tự động</a:t>
            </a:r>
            <a:endParaRPr lang="en-US" sz="1600" b="1" dirty="0">
              <a:solidFill>
                <a:srgbClr val="0F2A5C"/>
              </a:solidFill>
              <a:latin typeface="Calibri" panose="020F0502020204030204" pitchFamily="34" charset="0"/>
              <a:ea typeface="Calibri" panose="020F0502020204030204" pitchFamily="34" charset="-122"/>
              <a:cs typeface="Calibri" panose="020F0502020204030204" pitchFamily="34" charset="-120"/>
            </a:endParaRPr>
          </a:p>
        </p:txBody>
      </p:sp>
      <p:sp>
        <p:nvSpPr>
          <p:cNvPr id="45" name="Text 43"/>
          <p:cNvSpPr/>
          <p:nvPr/>
        </p:nvSpPr>
        <p:spPr>
          <a:xfrm>
            <a:off x="8182661" y="4939665"/>
            <a:ext cx="3204362" cy="868680"/>
          </a:xfrm>
          <a:prstGeom prst="rect">
            <a:avLst/>
          </a:prstGeom>
          <a:noFill/>
        </p:spPr>
        <p:txBody>
          <a:bodyPr wrap="square" lIns="0" tIns="0" rIns="0" bIns="0" rtlCol="0" anchor="t"/>
          <a:lstStyle/>
          <a:p>
            <a:pPr marL="0" indent="0" algn="ctr">
              <a:lnSpc>
                <a:spcPct val="114000"/>
              </a:lnSpc>
              <a:buNone/>
            </a:pPr>
            <a:r>
              <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rPr>
              <a:t>Cước từng chuyến tính sẵn theo bảng giá — cuối kỳ đối soát bằng số liệu, không cãi nhau</a:t>
            </a:r>
            <a:endParaRPr lang="en-US" sz="1400" dirty="0">
              <a:solidFill>
                <a:srgbClr val="45577A"/>
              </a:solidFill>
              <a:latin typeface="Calibri" panose="020F0502020204030204" pitchFamily="34" charset="0"/>
              <a:ea typeface="Calibri" panose="020F0502020204030204" pitchFamily="34" charset="-122"/>
              <a:cs typeface="Calibri" panose="020F0502020204030204" pitchFamily="34" charset="-120"/>
            </a:endParaRPr>
          </a:p>
        </p:txBody>
      </p:sp>
      <p:sp>
        <p:nvSpPr>
          <p:cNvPr id="46" name="Text 44"/>
          <p:cNvSpPr/>
          <p:nvPr/>
        </p:nvSpPr>
        <p:spPr>
          <a:xfrm>
            <a:off x="548640" y="6419088"/>
            <a:ext cx="6858000" cy="256032"/>
          </a:xfrm>
          <a:prstGeom prst="rect">
            <a:avLst/>
          </a:prstGeom>
          <a:noFill/>
        </p:spPr>
        <p:txBody>
          <a:bodyPr wrap="square" lIns="0" tIns="0" rIns="0" bIns="0" rtlCol="0" anchor="ctr"/>
          <a:lstStyle/>
          <a:p>
            <a:pPr marL="0" indent="0">
              <a:buNone/>
            </a:pPr>
            <a:r>
              <a:rPr lang="en-US" sz="850" kern="0" spc="60" dirty="0">
                <a:solidFill>
                  <a:srgbClr val="8B99B5"/>
                </a:solidFill>
                <a:latin typeface="Calibri" panose="020F0502020204030204" pitchFamily="34" charset="0"/>
                <a:ea typeface="Calibri" panose="020F0502020204030204" pitchFamily="34" charset="-122"/>
                <a:cs typeface="Calibri" panose="020F0502020204030204" pitchFamily="34" charset="-120"/>
              </a:rPr>
              <a:t>SMARTLOG × UNIS  ·  TÀI LIỆU TRAO ĐỔI</a:t>
            </a:r>
            <a:endParaRPr lang="en-US" sz="850" kern="0" spc="6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
        <p:nvSpPr>
          <p:cNvPr id="47" name="Text 45"/>
          <p:cNvSpPr/>
          <p:nvPr/>
        </p:nvSpPr>
        <p:spPr>
          <a:xfrm>
            <a:off x="7528255" y="6419088"/>
            <a:ext cx="4114800" cy="256032"/>
          </a:xfrm>
          <a:prstGeom prst="rect">
            <a:avLst/>
          </a:prstGeom>
          <a:noFill/>
        </p:spPr>
        <p:txBody>
          <a:bodyPr wrap="square" lIns="0" tIns="0" rIns="0" bIns="0" rtlCol="0" anchor="ctr"/>
          <a:lstStyle/>
          <a:p>
            <a:pPr marL="0" indent="0" algn="r">
              <a:buNone/>
            </a:pPr>
            <a:r>
              <a:rPr lang="en-US" sz="850" kern="0" spc="60" dirty="0">
                <a:solidFill>
                  <a:srgbClr val="8B99B5"/>
                </a:solidFill>
                <a:latin typeface="Calibri" panose="020F0502020204030204" pitchFamily="34" charset="0"/>
                <a:ea typeface="Calibri" panose="020F0502020204030204" pitchFamily="34" charset="-122"/>
                <a:cs typeface="Calibri" panose="020F0502020204030204" pitchFamily="34" charset="-120"/>
              </a:rPr>
              <a:t>VẬN HÀNH   12 / 17</a:t>
            </a:r>
            <a:endParaRPr lang="en-US" sz="850" kern="0" spc="60" dirty="0">
              <a:solidFill>
                <a:srgbClr val="8B99B5"/>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81A3A"/>
        </a:solidFill>
        <a:effectLst/>
      </p:bgPr>
    </p:bg>
    <p:spTree>
      <p:nvGrpSpPr>
        <p:cNvPr id="1" name=""/>
        <p:cNvGrpSpPr/>
        <p:nvPr/>
      </p:nvGrpSpPr>
      <p:grpSpPr>
        <a:xfrm>
          <a:off x="0" y="0"/>
          <a:ext cx="0" cy="0"/>
          <a:chOff x="0" y="0"/>
          <a:chExt cx="0" cy="0"/>
        </a:xfrm>
      </p:grpSpPr>
      <p:sp>
        <p:nvSpPr>
          <p:cNvPr id="2" name="Shape 0"/>
          <p:cNvSpPr/>
          <p:nvPr/>
        </p:nvSpPr>
        <p:spPr>
          <a:xfrm>
            <a:off x="8138160" y="-2377440"/>
            <a:ext cx="7680960" cy="6035040"/>
          </a:xfrm>
          <a:prstGeom prst="ellipse">
            <a:avLst/>
          </a:prstGeom>
          <a:solidFill>
            <a:srgbClr val="24437C">
              <a:alpha val="20000"/>
            </a:srgbClr>
          </a:solidFill>
          <a:ln w="12700">
            <a:solidFill>
              <a:srgbClr val="333333"/>
            </a:solidFill>
            <a:prstDash val="solid"/>
          </a:ln>
        </p:spPr>
        <p:txBody>
          <a:bodyPr/>
          <a:lstStyle/>
          <a:p>
            <a:endParaRPr lang="en-US"/>
          </a:p>
        </p:txBody>
      </p:sp>
      <p:sp>
        <p:nvSpPr>
          <p:cNvPr id="3" name="Shape 1"/>
          <p:cNvSpPr/>
          <p:nvPr/>
        </p:nvSpPr>
        <p:spPr>
          <a:xfrm>
            <a:off x="8778240" y="4023360"/>
            <a:ext cx="5120640" cy="4206240"/>
          </a:xfrm>
          <a:prstGeom prst="ellipse">
            <a:avLst/>
          </a:prstGeom>
          <a:solidFill>
            <a:srgbClr val="EAB308">
              <a:alpha val="9000"/>
            </a:srgbClr>
          </a:solidFill>
          <a:ln w="12700">
            <a:solidFill>
              <a:srgbClr val="333333"/>
            </a:solidFill>
            <a:prstDash val="solid"/>
          </a:ln>
        </p:spPr>
        <p:txBody>
          <a:bodyPr/>
          <a:lstStyle/>
          <a:p>
            <a:endParaRPr lang="en-US"/>
          </a:p>
        </p:txBody>
      </p:sp>
      <p:sp>
        <p:nvSpPr>
          <p:cNvPr id="4" name="Shape 2"/>
          <p:cNvSpPr/>
          <p:nvPr/>
        </p:nvSpPr>
        <p:spPr>
          <a:xfrm>
            <a:off x="548640" y="914400"/>
            <a:ext cx="420624" cy="420624"/>
          </a:xfrm>
          <a:prstGeom prst="roundRect">
            <a:avLst>
              <a:gd name="adj" fmla="val 23913"/>
            </a:avLst>
          </a:prstGeom>
          <a:solidFill>
            <a:srgbClr val="EAB308"/>
          </a:solidFill>
          <a:ln w="12700">
            <a:solidFill>
              <a:srgbClr val="333333"/>
            </a:solidFill>
            <a:prstDash val="solid"/>
          </a:ln>
        </p:spPr>
        <p:txBody>
          <a:bodyPr/>
          <a:lstStyle/>
          <a:p>
            <a:endParaRPr lang="en-US"/>
          </a:p>
        </p:txBody>
      </p:sp>
      <p:sp>
        <p:nvSpPr>
          <p:cNvPr id="5" name="Text 3"/>
          <p:cNvSpPr/>
          <p:nvPr/>
        </p:nvSpPr>
        <p:spPr>
          <a:xfrm>
            <a:off x="548640" y="914400"/>
            <a:ext cx="420624" cy="420624"/>
          </a:xfrm>
          <a:prstGeom prst="rect">
            <a:avLst/>
          </a:prstGeom>
          <a:noFill/>
        </p:spPr>
        <p:txBody>
          <a:bodyPr wrap="square" lIns="0" tIns="0" rIns="0" bIns="0" rtlCol="0" anchor="ctr"/>
          <a:lstStyle/>
          <a:p>
            <a:pPr marL="0" indent="0" algn="ctr">
              <a:buNone/>
            </a:pPr>
            <a:r>
              <a:rPr lang="en-US" sz="1500" b="1" dirty="0">
                <a:solidFill>
                  <a:srgbClr val="0F2A5C"/>
                </a:solidFill>
                <a:latin typeface="Calibri" panose="020F0502020204030204" pitchFamily="34" charset="0"/>
                <a:ea typeface="Calibri" panose="020F0502020204030204" pitchFamily="34" charset="-122"/>
                <a:cs typeface="Calibri" panose="020F0502020204030204" pitchFamily="34" charset="-120"/>
              </a:rPr>
              <a:t>SL</a:t>
            </a:r>
            <a:endParaRPr lang="en-US" sz="1500" dirty="0"/>
          </a:p>
        </p:txBody>
      </p:sp>
      <p:sp>
        <p:nvSpPr>
          <p:cNvPr id="6" name="Text 4"/>
          <p:cNvSpPr/>
          <p:nvPr/>
        </p:nvSpPr>
        <p:spPr>
          <a:xfrm>
            <a:off x="1115568" y="914400"/>
            <a:ext cx="5486400" cy="420624"/>
          </a:xfrm>
          <a:prstGeom prst="rect">
            <a:avLst/>
          </a:prstGeom>
          <a:noFill/>
        </p:spPr>
        <p:txBody>
          <a:bodyPr wrap="square" lIns="0" tIns="0" rIns="0" bIns="0" rtlCol="0" anchor="ctr"/>
          <a:lstStyle/>
          <a:p>
            <a:pPr marL="0" indent="0">
              <a:buNone/>
            </a:pPr>
            <a:r>
              <a:rPr lang="en-US" sz="1250" b="1" kern="0" spc="160" dirty="0">
                <a:solidFill>
                  <a:srgbClr val="FFFFFF"/>
                </a:solidFill>
                <a:latin typeface="Calibri" panose="020F0502020204030204" pitchFamily="34" charset="0"/>
                <a:ea typeface="Calibri" panose="020F0502020204030204" pitchFamily="34" charset="-122"/>
                <a:cs typeface="Calibri" panose="020F0502020204030204" pitchFamily="34" charset="-120"/>
              </a:rPr>
              <a:t>SMARTLOG × UNIS</a:t>
            </a:r>
            <a:endParaRPr lang="en-US" sz="1250" dirty="0"/>
          </a:p>
        </p:txBody>
      </p:sp>
      <p:sp>
        <p:nvSpPr>
          <p:cNvPr id="7" name="Text 5"/>
          <p:cNvSpPr/>
          <p:nvPr/>
        </p:nvSpPr>
        <p:spPr>
          <a:xfrm>
            <a:off x="548640" y="2148840"/>
            <a:ext cx="7315200" cy="274320"/>
          </a:xfrm>
          <a:prstGeom prst="rect">
            <a:avLst/>
          </a:prstGeom>
          <a:noFill/>
        </p:spPr>
        <p:txBody>
          <a:bodyPr wrap="square" lIns="0" tIns="0" rIns="0" bIns="0" rtlCol="0" anchor="ctr"/>
          <a:lstStyle/>
          <a:p>
            <a:pPr marL="0" indent="0">
              <a:buNone/>
            </a:pPr>
            <a:r>
              <a:rPr lang="en-US" sz="1050" b="1" kern="0" spc="200" dirty="0">
                <a:solidFill>
                  <a:srgbClr val="FACC15"/>
                </a:solidFill>
                <a:latin typeface="Calibri" panose="020F0502020204030204" pitchFamily="34" charset="0"/>
                <a:ea typeface="Calibri" panose="020F0502020204030204" pitchFamily="34" charset="-122"/>
                <a:cs typeface="Calibri" panose="020F0502020204030204" pitchFamily="34" charset="-120"/>
              </a:rPr>
              <a:t>BƯỚC TIẾP THEO</a:t>
            </a:r>
            <a:endParaRPr lang="en-US" sz="1050" dirty="0"/>
          </a:p>
        </p:txBody>
      </p:sp>
      <p:sp>
        <p:nvSpPr>
          <p:cNvPr id="8" name="Text 6"/>
          <p:cNvSpPr/>
          <p:nvPr/>
        </p:nvSpPr>
        <p:spPr>
          <a:xfrm>
            <a:off x="548640" y="2514600"/>
            <a:ext cx="9601200" cy="1554480"/>
          </a:xfrm>
          <a:prstGeom prst="rect">
            <a:avLst/>
          </a:prstGeom>
          <a:noFill/>
        </p:spPr>
        <p:txBody>
          <a:bodyPr wrap="square" lIns="0" tIns="0" rIns="0" bIns="0" rtlCol="0" anchor="t"/>
          <a:lstStyle/>
          <a:p>
            <a:pPr marL="0" indent="0">
              <a:lnSpc>
                <a:spcPct val="106000"/>
              </a:lnSpc>
              <a:buNone/>
            </a:pPr>
            <a:r>
              <a:rPr lang="en-US" sz="3600" b="1" dirty="0">
                <a:solidFill>
                  <a:srgbClr val="FACC15"/>
                </a:solidFill>
                <a:latin typeface="Calibri" panose="020F0502020204030204" pitchFamily="34" charset="0"/>
                <a:ea typeface="Calibri" panose="020F0502020204030204" pitchFamily="34" charset="-122"/>
                <a:cs typeface="Calibri" panose="020F0502020204030204" pitchFamily="34" charset="-120"/>
              </a:rPr>
              <a:t>Buổi làm việc chốt </a:t>
            </a:r>
            <a:r>
              <a:rPr lang="en-US" sz="3600" b="1" dirty="0" err="1">
                <a:solidFill>
                  <a:srgbClr val="FACC15"/>
                </a:solidFill>
                <a:latin typeface="Calibri" panose="020F0502020204030204" pitchFamily="34" charset="0"/>
                <a:ea typeface="Calibri" panose="020F0502020204030204" pitchFamily="34" charset="-122"/>
                <a:cs typeface="Calibri" panose="020F0502020204030204" pitchFamily="34" charset="-120"/>
              </a:rPr>
              <a:t>phạm</a:t>
            </a:r>
            <a:r>
              <a:rPr lang="en-US" sz="3600" b="1" dirty="0">
                <a:solidFill>
                  <a:srgbClr val="FACC15"/>
                </a:solidFill>
                <a:latin typeface="Calibri" panose="020F0502020204030204" pitchFamily="34" charset="0"/>
                <a:ea typeface="Calibri" panose="020F0502020204030204" pitchFamily="34" charset="-122"/>
                <a:cs typeface="Calibri" panose="020F0502020204030204" pitchFamily="34" charset="-120"/>
              </a:rPr>
              <a:t> vi , </a:t>
            </a:r>
            <a:r>
              <a:rPr lang="en-US" sz="3600" b="1" dirty="0" err="1">
                <a:solidFill>
                  <a:srgbClr val="FACC15"/>
                </a:solidFill>
                <a:latin typeface="Calibri" panose="020F0502020204030204" pitchFamily="34" charset="0"/>
                <a:ea typeface="Calibri" panose="020F0502020204030204" pitchFamily="34" charset="-122"/>
                <a:cs typeface="Calibri" panose="020F0502020204030204" pitchFamily="34" charset="-120"/>
              </a:rPr>
              <a:t>duyệt</a:t>
            </a:r>
            <a:r>
              <a:rPr lang="en-US" sz="3600" b="1" dirty="0">
                <a:solidFill>
                  <a:srgbClr val="FACC15"/>
                </a:solidFill>
                <a:latin typeface="Calibri" panose="020F0502020204030204" pitchFamily="34" charset="0"/>
                <a:ea typeface="Calibri" panose="020F0502020204030204" pitchFamily="34" charset="-122"/>
                <a:cs typeface="Calibri" panose="020F0502020204030204" pitchFamily="34" charset="-120"/>
              </a:rPr>
              <a:t> </a:t>
            </a:r>
            <a:r>
              <a:rPr lang="en-US" sz="3600" b="1" dirty="0" err="1">
                <a:solidFill>
                  <a:srgbClr val="FACC15"/>
                </a:solidFill>
                <a:latin typeface="Calibri" panose="020F0502020204030204" pitchFamily="34" charset="0"/>
                <a:ea typeface="Calibri" panose="020F0502020204030204" pitchFamily="34" charset="-122"/>
                <a:cs typeface="Calibri" panose="020F0502020204030204" pitchFamily="34" charset="-120"/>
              </a:rPr>
              <a:t>các</a:t>
            </a:r>
            <a:r>
              <a:rPr lang="en-US" sz="3600" b="1" dirty="0">
                <a:solidFill>
                  <a:srgbClr val="FACC15"/>
                </a:solidFill>
                <a:latin typeface="Calibri" panose="020F0502020204030204" pitchFamily="34" charset="0"/>
                <a:ea typeface="Calibri" panose="020F0502020204030204" pitchFamily="34" charset="-122"/>
                <a:cs typeface="Calibri" panose="020F0502020204030204" pitchFamily="34" charset="-120"/>
              </a:rPr>
              <a:t> </a:t>
            </a:r>
            <a:r>
              <a:rPr lang="en-US" sz="3600" b="1" dirty="0" err="1">
                <a:solidFill>
                  <a:srgbClr val="FACC15"/>
                </a:solidFill>
                <a:latin typeface="Calibri" panose="020F0502020204030204" pitchFamily="34" charset="0"/>
                <a:ea typeface="Calibri" panose="020F0502020204030204" pitchFamily="34" charset="-122"/>
                <a:cs typeface="Calibri" panose="020F0502020204030204" pitchFamily="34" charset="-120"/>
              </a:rPr>
              <a:t>bước</a:t>
            </a:r>
            <a:r>
              <a:rPr lang="en-US" sz="3600" b="1" dirty="0">
                <a:solidFill>
                  <a:srgbClr val="FACC15"/>
                </a:solidFill>
                <a:latin typeface="Calibri" panose="020F0502020204030204" pitchFamily="34" charset="0"/>
                <a:ea typeface="Calibri" panose="020F0502020204030204" pitchFamily="34" charset="-122"/>
                <a:cs typeface="Calibri" panose="020F0502020204030204" pitchFamily="34" charset="-120"/>
              </a:rPr>
              <a:t> </a:t>
            </a:r>
            <a:r>
              <a:rPr lang="en-US" sz="3600" b="1" dirty="0" err="1">
                <a:solidFill>
                  <a:srgbClr val="FACC15"/>
                </a:solidFill>
                <a:latin typeface="Calibri" panose="020F0502020204030204" pitchFamily="34" charset="0"/>
                <a:ea typeface="Calibri" panose="020F0502020204030204" pitchFamily="34" charset="-122"/>
                <a:cs typeface="Calibri" panose="020F0502020204030204" pitchFamily="34" charset="-120"/>
              </a:rPr>
              <a:t>và</a:t>
            </a:r>
            <a:r>
              <a:rPr lang="en-US" sz="3600" b="1" dirty="0">
                <a:solidFill>
                  <a:srgbClr val="FACC15"/>
                </a:solidFill>
                <a:latin typeface="Calibri" panose="020F0502020204030204" pitchFamily="34" charset="0"/>
                <a:ea typeface="Calibri" panose="020F0502020204030204" pitchFamily="34" charset="-122"/>
                <a:cs typeface="Calibri" panose="020F0502020204030204" pitchFamily="34" charset="-120"/>
              </a:rPr>
              <a:t> </a:t>
            </a:r>
            <a:r>
              <a:rPr lang="en-US" sz="3600" b="1" dirty="0" err="1">
                <a:solidFill>
                  <a:srgbClr val="FACC15"/>
                </a:solidFill>
                <a:latin typeface="Calibri" panose="020F0502020204030204" pitchFamily="34" charset="0"/>
                <a:ea typeface="Calibri" panose="020F0502020204030204" pitchFamily="34" charset="-122"/>
                <a:cs typeface="Calibri" panose="020F0502020204030204" pitchFamily="34" charset="-120"/>
              </a:rPr>
              <a:t>các</a:t>
            </a:r>
            <a:r>
              <a:rPr lang="en-US" sz="3600" b="1" dirty="0">
                <a:solidFill>
                  <a:srgbClr val="FACC15"/>
                </a:solidFill>
                <a:latin typeface="Calibri" panose="020F0502020204030204" pitchFamily="34" charset="0"/>
                <a:ea typeface="Calibri" panose="020F0502020204030204" pitchFamily="34" charset="-122"/>
                <a:cs typeface="Calibri" panose="020F0502020204030204" pitchFamily="34" charset="-120"/>
              </a:rPr>
              <a:t> </a:t>
            </a:r>
            <a:r>
              <a:rPr lang="en-US" sz="3600" b="1" dirty="0" err="1">
                <a:solidFill>
                  <a:srgbClr val="FACC15"/>
                </a:solidFill>
                <a:latin typeface="Calibri" panose="020F0502020204030204" pitchFamily="34" charset="0"/>
                <a:ea typeface="Calibri" panose="020F0502020204030204" pitchFamily="34" charset="-122"/>
                <a:cs typeface="Calibri" panose="020F0502020204030204" pitchFamily="34" charset="-120"/>
              </a:rPr>
              <a:t>bước</a:t>
            </a:r>
            <a:r>
              <a:rPr lang="en-US" sz="3600" b="1" dirty="0">
                <a:solidFill>
                  <a:srgbClr val="FACC15"/>
                </a:solidFill>
                <a:latin typeface="Calibri" panose="020F0502020204030204" pitchFamily="34" charset="0"/>
                <a:ea typeface="Calibri" panose="020F0502020204030204" pitchFamily="34" charset="-122"/>
                <a:cs typeface="Calibri" panose="020F0502020204030204" pitchFamily="34" charset="-120"/>
              </a:rPr>
              <a:t> </a:t>
            </a:r>
            <a:r>
              <a:rPr lang="en-US" sz="3600" b="1" dirty="0" err="1">
                <a:solidFill>
                  <a:srgbClr val="FACC15"/>
                </a:solidFill>
                <a:latin typeface="Calibri" panose="020F0502020204030204" pitchFamily="34" charset="0"/>
                <a:ea typeface="Calibri" panose="020F0502020204030204" pitchFamily="34" charset="-122"/>
                <a:cs typeface="Calibri" panose="020F0502020204030204" pitchFamily="34" charset="-120"/>
              </a:rPr>
              <a:t>thiết</a:t>
            </a:r>
            <a:r>
              <a:rPr lang="en-US" sz="3600" b="1" dirty="0">
                <a:solidFill>
                  <a:srgbClr val="FACC15"/>
                </a:solidFill>
                <a:latin typeface="Calibri" panose="020F0502020204030204" pitchFamily="34" charset="0"/>
                <a:ea typeface="Calibri" panose="020F0502020204030204" pitchFamily="34" charset="-122"/>
                <a:cs typeface="Calibri" panose="020F0502020204030204" pitchFamily="34" charset="-120"/>
              </a:rPr>
              <a:t> </a:t>
            </a:r>
            <a:r>
              <a:rPr lang="en-US" sz="3600" b="1" dirty="0" err="1">
                <a:solidFill>
                  <a:srgbClr val="FACC15"/>
                </a:solidFill>
                <a:latin typeface="Calibri" panose="020F0502020204030204" pitchFamily="34" charset="0"/>
                <a:ea typeface="Calibri" panose="020F0502020204030204" pitchFamily="34" charset="-122"/>
                <a:cs typeface="Calibri" panose="020F0502020204030204" pitchFamily="34" charset="-120"/>
              </a:rPr>
              <a:t>kế</a:t>
            </a:r>
            <a:endParaRPr lang="en-US" sz="3600" dirty="0"/>
          </a:p>
        </p:txBody>
      </p:sp>
      <p:sp>
        <p:nvSpPr>
          <p:cNvPr id="9" name="Shape 7"/>
          <p:cNvSpPr/>
          <p:nvPr/>
        </p:nvSpPr>
        <p:spPr>
          <a:xfrm>
            <a:off x="548640" y="4315968"/>
            <a:ext cx="2971800" cy="475488"/>
          </a:xfrm>
          <a:prstGeom prst="roundRect">
            <a:avLst>
              <a:gd name="adj" fmla="val 46154"/>
            </a:avLst>
          </a:prstGeom>
          <a:solidFill>
            <a:srgbClr val="EAB308"/>
          </a:solidFill>
          <a:ln w="12700">
            <a:solidFill>
              <a:srgbClr val="333333"/>
            </a:solidFill>
            <a:prstDash val="solid"/>
          </a:ln>
        </p:spPr>
        <p:txBody>
          <a:bodyPr/>
          <a:lstStyle/>
          <a:p>
            <a:endParaRPr lang="en-US"/>
          </a:p>
        </p:txBody>
      </p:sp>
      <p:sp>
        <p:nvSpPr>
          <p:cNvPr id="10" name="Text 8"/>
          <p:cNvSpPr/>
          <p:nvPr/>
        </p:nvSpPr>
        <p:spPr>
          <a:xfrm>
            <a:off x="548640" y="4315968"/>
            <a:ext cx="2971800" cy="475488"/>
          </a:xfrm>
          <a:prstGeom prst="rect">
            <a:avLst/>
          </a:prstGeom>
          <a:noFill/>
        </p:spPr>
        <p:txBody>
          <a:bodyPr wrap="square" lIns="0" tIns="0" rIns="0" bIns="0" rtlCol="0" anchor="ctr"/>
          <a:lstStyle/>
          <a:p>
            <a:pPr marL="0" indent="0" algn="ctr">
              <a:buNone/>
            </a:pPr>
            <a:r>
              <a:rPr lang="en-US" sz="1250" b="1" dirty="0">
                <a:solidFill>
                  <a:srgbClr val="0F2A5C"/>
                </a:solidFill>
                <a:latin typeface="Calibri" panose="020F0502020204030204" pitchFamily="34" charset="0"/>
                <a:ea typeface="Calibri" panose="020F0502020204030204" pitchFamily="34" charset="-122"/>
                <a:cs typeface="Calibri" panose="020F0502020204030204" pitchFamily="34" charset="-120"/>
              </a:rPr>
              <a:t>Đề xuất: trong tuần, trước 07/08</a:t>
            </a:r>
            <a:endParaRPr lang="en-US" sz="1250" dirty="0"/>
          </a:p>
        </p:txBody>
      </p:sp>
      <p:sp>
        <p:nvSpPr>
          <p:cNvPr id="11" name="Text 9"/>
          <p:cNvSpPr/>
          <p:nvPr/>
        </p:nvSpPr>
        <p:spPr>
          <a:xfrm>
            <a:off x="548640" y="5029200"/>
            <a:ext cx="8412480" cy="731520"/>
          </a:xfrm>
          <a:prstGeom prst="rect">
            <a:avLst/>
          </a:prstGeom>
          <a:noFill/>
        </p:spPr>
        <p:txBody>
          <a:bodyPr wrap="square" lIns="0" tIns="0" rIns="0" bIns="0" rtlCol="0" anchor="t"/>
          <a:lstStyle/>
          <a:p>
            <a:pPr marL="0" indent="0">
              <a:lnSpc>
                <a:spcPct val="124000"/>
              </a:lnSpc>
              <a:buNone/>
            </a:pPr>
            <a:endParaRPr lang="en-US" sz="1250" dirty="0"/>
          </a:p>
        </p:txBody>
      </p:sp>
      <p:sp>
        <p:nvSpPr>
          <p:cNvPr id="12" name="Text 10"/>
          <p:cNvSpPr/>
          <p:nvPr/>
        </p:nvSpPr>
        <p:spPr>
          <a:xfrm>
            <a:off x="548640" y="6419088"/>
            <a:ext cx="7315200" cy="256032"/>
          </a:xfrm>
          <a:prstGeom prst="rect">
            <a:avLst/>
          </a:prstGeom>
          <a:noFill/>
        </p:spPr>
        <p:txBody>
          <a:bodyPr wrap="square" lIns="0" tIns="0" rIns="0" bIns="0" rtlCol="0" anchor="ctr"/>
          <a:lstStyle/>
          <a:p>
            <a:pPr marL="0" indent="0">
              <a:buNone/>
            </a:pPr>
            <a:r>
              <a:rPr lang="en-US" sz="750" kern="0" spc="60" dirty="0">
                <a:solidFill>
                  <a:srgbClr val="6B7DA0"/>
                </a:solidFill>
                <a:latin typeface="Calibri" panose="020F0502020204030204" pitchFamily="34" charset="0"/>
                <a:ea typeface="Calibri" panose="020F0502020204030204" pitchFamily="34" charset="-122"/>
                <a:cs typeface="Calibri" panose="020F0502020204030204" pitchFamily="34" charset="-120"/>
              </a:rPr>
              <a:t>SMARTLOG × UNIS  ·  TÀI LIỆU TRAO ĐỔI</a:t>
            </a:r>
            <a:endParaRPr lang="en-US" sz="750" dirty="0"/>
          </a:p>
        </p:txBody>
      </p:sp>
      <p:sp>
        <p:nvSpPr>
          <p:cNvPr id="13" name="Text 11"/>
          <p:cNvSpPr/>
          <p:nvPr/>
        </p:nvSpPr>
        <p:spPr>
          <a:xfrm>
            <a:off x="8899855" y="6419088"/>
            <a:ext cx="2743200" cy="256032"/>
          </a:xfrm>
          <a:prstGeom prst="rect">
            <a:avLst/>
          </a:prstGeom>
          <a:noFill/>
        </p:spPr>
        <p:txBody>
          <a:bodyPr wrap="square" lIns="0" tIns="0" rIns="0" bIns="0" rtlCol="0" anchor="ctr"/>
          <a:lstStyle/>
          <a:p>
            <a:pPr marL="0" indent="0" algn="r">
              <a:buNone/>
            </a:pPr>
            <a:r>
              <a:rPr lang="en-US" sz="750" kern="0" spc="60" dirty="0">
                <a:solidFill>
                  <a:srgbClr val="6B7DA0"/>
                </a:solidFill>
                <a:latin typeface="Calibri" panose="020F0502020204030204" pitchFamily="34" charset="0"/>
                <a:ea typeface="Calibri" panose="020F0502020204030204" pitchFamily="34" charset="-122"/>
                <a:cs typeface="Calibri" panose="020F0502020204030204" pitchFamily="34" charset="-120"/>
              </a:rPr>
              <a:t>17 / 17</a:t>
            </a:r>
            <a:endParaRPr lang="en-US" sz="750" dirty="0"/>
          </a:p>
        </p:txBody>
      </p:sp>
    </p:spTree>
  </p:cSld>
  <p:clrMapOvr>
    <a:masterClrMapping/>
  </p:clrMapOvr>
</p:sld>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12878</Words>
  <Application>WPS Presentation</Application>
  <PresentationFormat>Widescreen</PresentationFormat>
  <Paragraphs>830</Paragraphs>
  <Slides>15</Slides>
  <Notes>15</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15</vt:i4>
      </vt:variant>
    </vt:vector>
  </HeadingPairs>
  <TitlesOfParts>
    <vt:vector size="29" baseType="lpstr">
      <vt:lpstr>Arial</vt:lpstr>
      <vt:lpstr>SimSun</vt:lpstr>
      <vt:lpstr>Wingdings</vt:lpstr>
      <vt:lpstr>Calibri</vt:lpstr>
      <vt:lpstr>Calibri</vt:lpstr>
      <vt:lpstr>Calibri</vt:lpstr>
      <vt:lpstr>Arial</vt:lpstr>
      <vt:lpstr>Arial</vt:lpstr>
      <vt:lpstr>Microsoft YaHei</vt:lpstr>
      <vt:lpstr>Arial Unicode MS</vt:lpstr>
      <vt:lpstr>Aptos</vt:lpstr>
      <vt:lpstr>Segoe UI</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Smartlog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Smartlog x Unis - De xuat trien khai TMS / WMS / OMS</dc:title>
  <dc:creator>Smartlog</dc:creator>
  <dc:subject>PptxGenJS Presentation</dc:subject>
  <cp:lastModifiedBy>Nguyên Khôi</cp:lastModifiedBy>
  <cp:revision>66</cp:revision>
  <dcterms:created xsi:type="dcterms:W3CDTF">2026-08-05T05:03:00Z</dcterms:created>
  <dcterms:modified xsi:type="dcterms:W3CDTF">2026-08-14T08:35:49Z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83BEAD571D6143A0841779B107C20AC8_12</vt:lpwstr>
  </property>
  <property fmtid="{D5CDD505-2E9C-101B-9397-08002B2CF9AE}" pid="3" name="KSOProductBuildVer">
    <vt:lpwstr>2057-12.2.0.23206</vt:lpwstr>
  </property>
</Properties>
</file>